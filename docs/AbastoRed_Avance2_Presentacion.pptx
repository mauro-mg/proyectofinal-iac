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1698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Humberto: «Buenos días, somos el equipo 01 con AbastoRed. Hoy presentamos el segundo avance: cómo convertimos el sistema en microservicios, cómo se integran y cómo lo probamos. Al final hacemos una demostración del proceso completo.»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el avance 1 todo vivía en una sola aplicación web. Ahora el núcleo del negocio está en 8 servicios independientes. Leer los cuatro números y decir: los servicios comparten un mismo inicio de sesión, hablan JSON y XML y usan las tres bases de datos. El web sigue funcionando aunque un servicio se caiga.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el diagrama de arriba hacia abajo: el navegador usa el web; Postman, Swagger y después las apps usan los servicios directo. El web llama a los servicios con el token del usuario. Abajo las tres bases. Todo corre en Docker en una misma red; cada servicio tiene su contenedor.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Dividimos por capacidad de negocio y por quién escribe cada dato: cada tabla tiene un solo servicio que la modifica. El diseño original tenía 13; juntamos los que usaban las mismas consultas (cobertura, brechas, recomendaciones en análisis). Si preguntan por la base: comparten instancia de PostgreSQL, pero con un dueño por tabla; separar esquemas es el siguiente 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Todo esto vive en una sola biblioteca (abasto_api); cada servicio sólo declara sus rutas. Por eso los 8 se comportan igual. Mostrar un Swagger y señalar el botón Authorize y los códigos de error documentados.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 JWT normal no se puede apagar antes de que venza. Por eso además de la firma revisamos Redis: si la sesión ya no está o el token fue revocado, no pasa. Así cerrar sesión en un lado la cierra en todos. Demo corta: login en Swagger, usar el token en otro servicio, logout, el mismo token da 401 token_revocado.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 comando levanta los 12 contenedores; esperan a que las bases estén sanas. Variables en .env (no se sube al repositorio). Mostrar docker compose ps con los 12 healthy.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Fotos y evidencias del comercio se guardan en MongoDB GridFS; sólo las ven el dueño y la coordinación. Nuevo perfil Operador de Proveedor: el dueño da de alta a sus empleados, que atienden pedidos sin tocar precios. Demo: subir foto del comercio; alta de un operador.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web llama a los servicios con el mismo token del usuario. Si uno no responde, calcula con su propia biblioteca y muestra la fuente. Para no esperar en cada página, recuerda la falla 30 segundos en Redis (cortacircuitos): de 4.1 s a menos de 0.1 s. Lo probamos apagando ms-analisis y ms-notificaciones.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cliente elige: Accept: application/xml o ?formato=xml. Cada servicio tiene un XSD que define cada mensaje; no lo escribimos a mano, se genera de los mismos modelos que validan el JSON, así nunca quedan distintos. Si llega un XML que no cumple: 400 con el motivo. Demo: /api/v1/categorias en JSON y luego con ?formato=xml.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Regla para decidir: PostgreSQL lo transaccional con relaciones; MongoDB documentos variables, mucho volumen y caducidad; Redis lo rápido y temporal. Cada documento de Mongo guarda el id de PostgreSQL con el que se relaciona. Mencionar al menos dos agregaciones.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CSV: la minorista descarga la plantilla con su inventario, la edita en Excel y la sube; cada fila se aplica por separado y las malas se reportan. Mientras dura, un bloqueo en Redis evita otra carga. Precio atípico: fuera del 10–150 % del promedio de la zona queda pendiente y la coordinación decide. Demo de ambos.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Seguir el diagrama de estados: el comercio crea, envía y recibe; el proveedor o su operador acepta, prepara y despacha. Una acción fuera de orden da 409. Cada cambio queda en PostgreSQL y como evento en MongoDB; con esos eventos calculamos el desempeño de cada proveedor. Un bloqueo en Redis evita dos acciones a 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Unitarias sin Docker; integración contra el sistema levantado y encadenadas como el proceso real; una prueba apaga servicios para ver que nada se pierde. El generador prueba las 87 operaciones con 5 casos cada una y arma el reporte y la colección de Postman. Las pruebas encontraron errores reales que corregimos: mencionarlos, es lo que más valor demuestra.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Cerrar mencionando que los servicios ya responden JSON y XML justamente para las apps del avance 3. Abrir a preguntas: cualquiera puede contestar con la guía de estudio.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18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AbastoRed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Avance 2 · Microservicios, integración y pruebas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FE3D8"/>
                </a:solidFill>
                <a:latin typeface="Calibri"/>
              </a:rPr>
              <a:t>Plataforma híbrida para comercio formal e informal · Proyecto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Equipo 01 · Integración de Aplicaciones · UDEM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7899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FE3D8"/>
                </a:solidFill>
                <a:latin typeface="Calibri"/>
              </a:rPr>
              <a:t>José Humberto Moreno 596055 · David López 600390 · Mauro Montelongo 595821 · Humberto Vargas 604775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Del monolito a 8 microservicios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64"/>
                </a:solidFill>
                <a:latin typeface="Calibri"/>
              </a:rPr>
              <a:t>Lo que trae este avance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2468880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2468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32888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microservicios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691640"/>
            <a:ext cx="2468880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783080"/>
            <a:ext cx="2468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532888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operaciones de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691640"/>
            <a:ext cx="2468880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1783080"/>
            <a:ext cx="2468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166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532888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pruebas automáticas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691640"/>
            <a:ext cx="2468880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1783080"/>
            <a:ext cx="2468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375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532888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casos de evidencia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29000"/>
            <a:ext cx="1115568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D2420"/>
                </a:solidFill>
                <a:latin typeface="Calibri"/>
              </a:rPr>
              <a:t>• Cada servicio en </a:t>
            </a:r>
            <a:r>
              <a:rPr sz="1900" b="1">
                <a:solidFill>
                  <a:srgbClr val="1D2420"/>
                </a:solidFill>
                <a:latin typeface="Calibri"/>
              </a:rPr>
              <a:t>su propio contenedor</a:t>
            </a:r>
            <a:r>
              <a:rPr sz="1900" b="0">
                <a:solidFill>
                  <a:srgbClr val="1D2420"/>
                </a:solidFill>
                <a:latin typeface="Calibri"/>
              </a:rPr>
              <a:t>, versión </a:t>
            </a:r>
            <a:r>
              <a:rPr sz="1900" b="1">
                <a:solidFill>
                  <a:srgbClr val="1D2420"/>
                </a:solidFill>
                <a:latin typeface="Calibri"/>
              </a:rPr>
              <a:t>/api/v1</a:t>
            </a:r>
            <a:r>
              <a:rPr sz="1900" b="0">
                <a:solidFill>
                  <a:srgbClr val="1D2420"/>
                </a:solidFill>
                <a:latin typeface="Calibri"/>
              </a:rPr>
              <a:t>, con </a:t>
            </a:r>
            <a:r>
              <a:rPr sz="1900" b="1">
                <a:solidFill>
                  <a:srgbClr val="1D2420"/>
                </a:solidFill>
                <a:latin typeface="Calibri"/>
              </a:rPr>
              <a:t>Swagger</a:t>
            </a:r>
            <a:r>
              <a:rPr sz="1900" b="0">
                <a:solidFill>
                  <a:srgbClr val="1D2420"/>
                </a:solidFill>
                <a:latin typeface="Calibri"/>
              </a:rPr>
              <a:t> y </a:t>
            </a:r>
            <a:r>
              <a:rPr sz="1900" b="1">
                <a:solidFill>
                  <a:srgbClr val="1D2420"/>
                </a:solidFill>
                <a:latin typeface="Calibri"/>
              </a:rPr>
              <a:t>/health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D2420"/>
                </a:solidFill>
                <a:latin typeface="Calibri"/>
              </a:rPr>
              <a:t>• </a:t>
            </a:r>
            <a:r>
              <a:rPr sz="1900" b="1">
                <a:solidFill>
                  <a:srgbClr val="1D2420"/>
                </a:solidFill>
                <a:latin typeface="Calibri"/>
              </a:rPr>
              <a:t>Un solo inicio de sesión</a:t>
            </a:r>
            <a:r>
              <a:rPr sz="1900" b="0">
                <a:solidFill>
                  <a:srgbClr val="1D2420"/>
                </a:solidFill>
                <a:latin typeface="Calibri"/>
              </a:rPr>
              <a:t> para todo: token JWT verificado en </a:t>
            </a:r>
            <a:r>
              <a:rPr sz="1900" b="1">
                <a:solidFill>
                  <a:srgbClr val="1D2420"/>
                </a:solidFill>
                <a:latin typeface="Calibri"/>
              </a:rPr>
              <a:t>Redis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D2420"/>
                </a:solidFill>
                <a:latin typeface="Calibri"/>
              </a:rPr>
              <a:t>• Respuestas en </a:t>
            </a:r>
            <a:r>
              <a:rPr sz="1900" b="1">
                <a:solidFill>
                  <a:srgbClr val="1D2420"/>
                </a:solidFill>
                <a:latin typeface="Calibri"/>
              </a:rPr>
              <a:t>JSON o XML</a:t>
            </a:r>
            <a:r>
              <a:rPr sz="1900" b="0">
                <a:solidFill>
                  <a:srgbClr val="1D2420"/>
                </a:solidFill>
                <a:latin typeface="Calibri"/>
              </a:rPr>
              <a:t> con contratos </a:t>
            </a:r>
            <a:r>
              <a:rPr sz="1900" b="1">
                <a:solidFill>
                  <a:srgbClr val="1D2420"/>
                </a:solidFill>
                <a:latin typeface="Calibri"/>
              </a:rPr>
              <a:t>XSD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D2420"/>
                </a:solidFill>
                <a:latin typeface="Calibri"/>
              </a:rPr>
              <a:t>• </a:t>
            </a:r>
            <a:r>
              <a:rPr sz="1900" b="1">
                <a:solidFill>
                  <a:srgbClr val="1D2420"/>
                </a:solidFill>
                <a:latin typeface="Calibri"/>
              </a:rPr>
              <a:t>PostgreSQL, MongoDB y Redis</a:t>
            </a:r>
            <a:r>
              <a:rPr sz="1900" b="0">
                <a:solidFill>
                  <a:srgbClr val="1D2420"/>
                </a:solidFill>
                <a:latin typeface="Calibri"/>
              </a:rPr>
              <a:t> con operaciones reales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D2420"/>
                </a:solidFill>
                <a:latin typeface="Calibri"/>
              </a:rPr>
              <a:t>• </a:t>
            </a:r>
            <a:r>
              <a:rPr sz="1900" b="1">
                <a:solidFill>
                  <a:srgbClr val="1D2420"/>
                </a:solidFill>
                <a:latin typeface="Calibri"/>
              </a:rPr>
              <a:t>Web ampliado</a:t>
            </a:r>
            <a:r>
              <a:rPr sz="1900" b="0">
                <a:solidFill>
                  <a:srgbClr val="1D2420"/>
                </a:solidFill>
                <a:latin typeface="Calibri"/>
              </a:rPr>
              <a:t>: nuevo perfil, procesos nuevos y administración; sigue funcionando si un servicio cae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Arquitectura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microservic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097280"/>
            <a:ext cx="819041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¿Por qué estos 8 servicios?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7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Servicio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Puerto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 encarga de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ms-seguridad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8101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Login, sesiones, usuarios, roles, auditoría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ms-comercios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8102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Registro y validación de comercios, zonas, fotos (GridFS)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ms-catalogo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8103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Productos, proveedores, «¿quién me vende?»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ms-inventario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8104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Existencias, movimientos, carga CSV, disponibilidad pública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ms-precios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8105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Precios, revisión de atípicos, comparación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ms-pedidos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8106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Pedidos, estados, historial, desempeño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ms-analisis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8107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Cobertura, brechas, recomendaciones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ms-notificaciones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8108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Avisos a usuarios y contador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532120"/>
            <a:ext cx="111556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6F4A"/>
                </a:solidFill>
                <a:latin typeface="Calibri"/>
              </a:rPr>
              <a:t>Criterio: </a:t>
            </a:r>
            <a:r>
              <a:rPr sz="1700" b="1">
                <a:solidFill>
                  <a:srgbClr val="1F6F4A"/>
                </a:solidFill>
                <a:latin typeface="Calibri"/>
              </a:rPr>
              <a:t>un servicio por capacidad de negocio</a:t>
            </a:r>
            <a:r>
              <a:rPr sz="1700" b="0">
                <a:solidFill>
                  <a:srgbClr val="1F6F4A"/>
                </a:solidFill>
                <a:latin typeface="Calibri"/>
              </a:rPr>
              <a:t> y </a:t>
            </a:r>
            <a:r>
              <a:rPr sz="1700" b="1">
                <a:solidFill>
                  <a:srgbClr val="1F6F4A"/>
                </a:solidFill>
                <a:latin typeface="Calibri"/>
              </a:rPr>
              <a:t>un solo dueño por tabla</a:t>
            </a:r>
            <a:r>
              <a:rPr sz="1700" b="0">
                <a:solidFill>
                  <a:srgbClr val="1F6F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Lo que todos los servicios hacen igual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64"/>
                </a:solidFill>
                <a:latin typeface="Calibri"/>
              </a:rPr>
              <a:t>Biblioteca compartida abasto_api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394960" cy="44805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64008" cy="448056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09928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4A"/>
                </a:solidFill>
                <a:latin typeface="Calibri"/>
              </a:rPr>
              <a:t>Cada petición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512064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Ruta versionada </a:t>
            </a:r>
            <a:r>
              <a:rPr sz="1600" b="1">
                <a:solidFill>
                  <a:srgbClr val="1D2420"/>
                </a:solidFill>
                <a:latin typeface="Calibri"/>
              </a:rPr>
              <a:t>/api/v1/...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Token y </a:t>
            </a:r>
            <a:r>
              <a:rPr sz="1600" b="1">
                <a:solidFill>
                  <a:srgbClr val="1D2420"/>
                </a:solidFill>
                <a:latin typeface="Calibri"/>
              </a:rPr>
              <a:t>permiso</a:t>
            </a:r>
            <a:r>
              <a:rPr sz="1600" b="0">
                <a:solidFill>
                  <a:srgbClr val="1D2420"/>
                </a:solidFill>
                <a:latin typeface="Calibri"/>
              </a:rPr>
              <a:t> antes de leer los datos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</a:t>
            </a:r>
            <a:r>
              <a:rPr sz="1600" b="1">
                <a:solidFill>
                  <a:srgbClr val="1D2420"/>
                </a:solidFill>
                <a:latin typeface="Calibri"/>
              </a:rPr>
              <a:t>Validación</a:t>
            </a:r>
            <a:r>
              <a:rPr sz="1600" b="0">
                <a:solidFill>
                  <a:srgbClr val="1D2420"/>
                </a:solidFill>
                <a:latin typeface="Calibri"/>
              </a:rPr>
              <a:t> campo por campo (422)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Responde </a:t>
            </a:r>
            <a:r>
              <a:rPr sz="1600" b="1">
                <a:solidFill>
                  <a:srgbClr val="1D2420"/>
                </a:solidFill>
                <a:latin typeface="Calibri"/>
              </a:rPr>
              <a:t>JSON o XML</a:t>
            </a:r>
            <a:r>
              <a:rPr sz="1600" b="0">
                <a:solidFill>
                  <a:srgbClr val="1D2420"/>
                </a:solidFill>
                <a:latin typeface="Calibri"/>
              </a:rPr>
              <a:t> según lo que pida el cliente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</a:t>
            </a:r>
            <a:r>
              <a:rPr sz="1600" b="1">
                <a:solidFill>
                  <a:srgbClr val="1D2420"/>
                </a:solidFill>
                <a:latin typeface="Calibri"/>
              </a:rPr>
              <a:t>120 peticiones/min</a:t>
            </a:r>
            <a:r>
              <a:rPr sz="1600" b="0">
                <a:solidFill>
                  <a:srgbClr val="1D2420"/>
                </a:solidFill>
                <a:latin typeface="Calibri"/>
              </a:rPr>
              <a:t> por usuario (429)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</a:t>
            </a:r>
            <a:r>
              <a:rPr sz="1600" b="1">
                <a:solidFill>
                  <a:srgbClr val="1D2420"/>
                </a:solidFill>
                <a:latin typeface="Calibri"/>
              </a:rPr>
              <a:t>X-Correlation-ID</a:t>
            </a:r>
            <a:r>
              <a:rPr sz="1600" b="0">
                <a:solidFill>
                  <a:srgbClr val="1D2420"/>
                </a:solidFill>
                <a:latin typeface="Calibri"/>
              </a:rPr>
              <a:t> y bitácora en MongoDB</a:t>
            </a:r>
          </a:p>
        </p:txBody>
      </p:sp>
      <p:pic>
        <p:nvPicPr>
          <p:cNvPr id="12" name="Picture 11" descr="swa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5486400" cy="3429000"/>
          </a:xfrm>
          <a:prstGeom prst="rect">
            <a:avLst/>
          </a:prstGeom>
          <a:ln w="12700">
            <a:solidFill>
              <a:srgbClr val="DEDCD4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172200" y="5166360"/>
            <a:ext cx="5486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Swagger de cada servicio en </a:t>
            </a:r>
            <a:r>
              <a:rPr sz="1300" b="1">
                <a:solidFill>
                  <a:srgbClr val="5F6B64"/>
                </a:solidFill>
                <a:latin typeface="Calibri"/>
              </a:rPr>
              <a:t>localhost:8101/docs … 8108/docs</a:t>
            </a:r>
            <a:r>
              <a:rPr sz="1300" b="0">
                <a:solidFill>
                  <a:srgbClr val="5F6B64"/>
                </a:solidFill>
                <a:latin typeface="Calibri"/>
              </a:rPr>
              <a:t> · OpenAPI 3.0.3 generado del código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Un solo inicio de sesión para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64"/>
                </a:solidFill>
                <a:latin typeface="Calibri"/>
              </a:rPr>
              <a:t>JWT + sesión en Redis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3611880" cy="17373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64008" cy="173736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4A"/>
                </a:solidFill>
                <a:latin typeface="Calibri"/>
              </a:rPr>
              <a:t>1. Firma y vigencia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33375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El token no fue alterado y no ha vencido (8 h).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611880" cy="17373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64008" cy="173736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755648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4A"/>
                </a:solidFill>
                <a:latin typeface="Calibri"/>
              </a:rPr>
              <a:t>2. No revocado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94560"/>
            <a:ext cx="33375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Su id (jti) no está en la lista de revocados de Redis.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645920"/>
            <a:ext cx="3611880" cy="17373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645920"/>
            <a:ext cx="64008" cy="173736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1755648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4A"/>
                </a:solidFill>
                <a:latin typeface="Calibri"/>
              </a:rPr>
              <a:t>3. Sesión viva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194560"/>
            <a:ext cx="33375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Su sesión sigue en Redis: si se borra, el token deja de servir.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57600"/>
            <a:ext cx="1115568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• </a:t>
            </a:r>
            <a:r>
              <a:rPr sz="1800" b="1">
                <a:solidFill>
                  <a:srgbClr val="1D2420"/>
                </a:solidFill>
                <a:latin typeface="Calibri"/>
              </a:rPr>
              <a:t>Logout</a:t>
            </a:r>
            <a:r>
              <a:rPr sz="1800" b="0">
                <a:solidFill>
                  <a:srgbClr val="1D2420"/>
                </a:solidFill>
                <a:latin typeface="Calibri"/>
              </a:rPr>
              <a:t> en cualquier componente → el token falla en </a:t>
            </a:r>
            <a:r>
              <a:rPr sz="1800" b="1">
                <a:solidFill>
                  <a:srgbClr val="1D2420"/>
                </a:solidFill>
                <a:latin typeface="Calibri"/>
              </a:rPr>
              <a:t>los 8 servicios y en el web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• </a:t>
            </a:r>
            <a:r>
              <a:rPr sz="1800" b="1">
                <a:solidFill>
                  <a:srgbClr val="1D2420"/>
                </a:solidFill>
                <a:latin typeface="Calibri"/>
              </a:rPr>
              <a:t>Refresh token de un solo uso</a:t>
            </a:r>
            <a:r>
              <a:rPr sz="1800" b="0">
                <a:solidFill>
                  <a:srgbClr val="1D2420"/>
                </a:solidFill>
                <a:latin typeface="Calibri"/>
              </a:rPr>
              <a:t>; el logout también lo anula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• 5 contraseñas mal → </a:t>
            </a:r>
            <a:r>
              <a:rPr sz="1800" b="1">
                <a:solidFill>
                  <a:srgbClr val="1D2420"/>
                </a:solidFill>
                <a:latin typeface="Calibri"/>
              </a:rPr>
              <a:t>cuenta bloqueada 15 min</a:t>
            </a:r>
            <a:r>
              <a:rPr sz="1800" b="0">
                <a:solidFill>
                  <a:srgbClr val="1D2420"/>
                </a:solidFill>
                <a:latin typeface="Calibri"/>
              </a:rPr>
              <a:t> (423) · 10 logins/min por IP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• Llamadas entre servicios con </a:t>
            </a:r>
            <a:r>
              <a:rPr sz="1800" b="1">
                <a:solidFill>
                  <a:srgbClr val="1D2420"/>
                </a:solidFill>
                <a:latin typeface="Calibri"/>
              </a:rPr>
              <a:t>token de servicio</a:t>
            </a:r>
            <a:r>
              <a:rPr sz="1800" b="0">
                <a:solidFill>
                  <a:srgbClr val="1D2420"/>
                </a:solidFill>
                <a:latin typeface="Calibri"/>
              </a:rPr>
              <a:t> de 5 min y un solo permiso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Cómo se levanta: Docker Compose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5852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Contenedor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Puerto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abastored-web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ms-seguridad … ms-notificaciones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8101–8108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PostgreSQL + PostGIS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5432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MongoDB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27017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Redis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6379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280160"/>
            <a:ext cx="5120640" cy="2377440"/>
          </a:xfrm>
          <a:prstGeom prst="rect">
            <a:avLst/>
          </a:prstGeom>
          <a:solidFill>
            <a:srgbClr val="1D2420"/>
          </a:solidFill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E6F0EA"/>
                </a:solidFill>
                <a:latin typeface="Consolas"/>
              </a:rPr>
              <a:t>cp .env.example .env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6F0EA"/>
                </a:solidFill>
                <a:latin typeface="Consolas"/>
              </a:rPr>
              <a:t>docker compose up -d --build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6F0EA"/>
                </a:solidFill>
                <a:latin typeface="Consolas"/>
              </a:rPr>
              <a:t>docker compose ps</a:t>
            </a:r>
          </a:p>
          <a:p>
            <a:pPr algn="l">
              <a:spcAft>
                <a:spcPts val="200"/>
              </a:spcAft>
            </a:pPr>
            <a:endParaRPr sz="1600" b="0">
              <a:solidFill>
                <a:srgbClr val="E6F0EA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6F0EA"/>
                </a:solidFill>
                <a:latin typeface="Consolas"/>
              </a:rPr>
              <a:t>docker compose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43400"/>
            <a:ext cx="111556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D2420"/>
                </a:solidFill>
                <a:latin typeface="Calibri"/>
              </a:rPr>
              <a:t>• Una red </a:t>
            </a:r>
            <a:r>
              <a:rPr sz="1700" b="1">
                <a:solidFill>
                  <a:srgbClr val="1D2420"/>
                </a:solidFill>
                <a:latin typeface="Calibri"/>
              </a:rPr>
              <a:t>abastored-network</a:t>
            </a:r>
            <a:r>
              <a:rPr sz="1700" b="0">
                <a:solidFill>
                  <a:srgbClr val="1D2420"/>
                </a:solidFill>
                <a:latin typeface="Calibri"/>
              </a:rPr>
              <a:t>; los servicios se llaman por nombre (http://ms-pedidos:8000)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2420"/>
                </a:solidFill>
                <a:latin typeface="Calibri"/>
              </a:rPr>
              <a:t>• </a:t>
            </a:r>
            <a:r>
              <a:rPr sz="1700" b="1">
                <a:solidFill>
                  <a:srgbClr val="1D2420"/>
                </a:solidFill>
                <a:latin typeface="Calibri"/>
              </a:rPr>
              <a:t>Volúmenes</a:t>
            </a:r>
            <a:r>
              <a:rPr sz="1700" b="0">
                <a:solidFill>
                  <a:srgbClr val="1D2420"/>
                </a:solidFill>
                <a:latin typeface="Calibri"/>
              </a:rPr>
              <a:t> para los datos de las tres bases · </a:t>
            </a:r>
            <a:r>
              <a:rPr sz="1700" b="1">
                <a:solidFill>
                  <a:srgbClr val="1D2420"/>
                </a:solidFill>
                <a:latin typeface="Calibri"/>
              </a:rPr>
              <a:t>healthcheck</a:t>
            </a:r>
            <a:r>
              <a:rPr sz="1700" b="0">
                <a:solidFill>
                  <a:srgbClr val="1D2420"/>
                </a:solidFill>
                <a:latin typeface="Calibri"/>
              </a:rPr>
              <a:t> en cada contenedor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2420"/>
                </a:solidFill>
                <a:latin typeface="Calibri"/>
              </a:rPr>
              <a:t>• Variables documentadas en </a:t>
            </a:r>
            <a:r>
              <a:rPr sz="1700" b="1">
                <a:solidFill>
                  <a:srgbClr val="1D2420"/>
                </a:solidFill>
                <a:latin typeface="Calibri"/>
              </a:rPr>
              <a:t>.env.example</a:t>
            </a:r>
            <a:r>
              <a:rPr sz="1700" b="0">
                <a:solidFill>
                  <a:srgbClr val="1D2420"/>
                </a:solidFill>
                <a:latin typeface="Calibri"/>
              </a:rPr>
              <a:t> (secretos, conexiones, URL de servicios, límites)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Comercios, catálogo y el web ampliado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José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86400" cy="23317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64008" cy="2331720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B3F8C"/>
                </a:solidFill>
                <a:latin typeface="Calibri"/>
              </a:rPr>
              <a:t>ms-comercios y ms-catalogo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21208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Alta, validación municipal y baja lógica de comercios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Fotos y evidencias en GridFS</a:t>
            </a:r>
            <a:r>
              <a:rPr sz="1500" b="0">
                <a:solidFill>
                  <a:srgbClr val="1D2420"/>
                </a:solidFill>
                <a:latin typeface="Calibri"/>
              </a:rPr>
              <a:t> (dueño y coordinación)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Catálogo, proveedores y «¿quién me vende en mi zona?»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5486400" cy="23317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64008" cy="2331720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B3F8C"/>
                </a:solidFill>
                <a:latin typeface="Calibri"/>
              </a:rPr>
              <a:t>Nuevo perfil: Operador de Proveedor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El dueño lo da de alta en </a:t>
            </a:r>
            <a:r>
              <a:rPr sz="1500" b="1">
                <a:solidFill>
                  <a:srgbClr val="1D2420"/>
                </a:solidFill>
                <a:latin typeface="Calibri"/>
              </a:rPr>
              <a:t>Mi empresa → Equipo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Atiende pedidos; </a:t>
            </a:r>
            <a:r>
              <a:rPr sz="1500" b="1">
                <a:solidFill>
                  <a:srgbClr val="1D2420"/>
                </a:solidFill>
                <a:latin typeface="Calibri"/>
              </a:rPr>
              <a:t>no cambia precios ni catálogo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Darlo de baja </a:t>
            </a:r>
            <a:r>
              <a:rPr sz="1500" b="1">
                <a:solidFill>
                  <a:srgbClr val="1D2420"/>
                </a:solidFill>
                <a:latin typeface="Calibri"/>
              </a:rPr>
              <a:t>le cierra la sesión</a:t>
            </a:r>
            <a:r>
              <a:rPr sz="1500" b="0">
                <a:solidFill>
                  <a:srgbClr val="1D2420"/>
                </a:solidFill>
                <a:latin typeface="Calibri"/>
              </a:rPr>
              <a:t> al instante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40480"/>
            <a:ext cx="11155680" cy="23317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840480"/>
            <a:ext cx="64008" cy="2331720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950208"/>
            <a:ext cx="10881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B3F8C"/>
                </a:solidFill>
                <a:latin typeface="Calibri"/>
              </a:rPr>
              <a:t>Nuevo en el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1088136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Campana de notificaciones</a:t>
            </a:r>
            <a:r>
              <a:rPr sz="1500" b="0">
                <a:solidFill>
                  <a:srgbClr val="1D2420"/>
                </a:solidFill>
                <a:latin typeface="Calibri"/>
              </a:rPr>
              <a:t> · </a:t>
            </a:r>
            <a:r>
              <a:rPr sz="1500" b="1">
                <a:solidFill>
                  <a:srgbClr val="1D2420"/>
                </a:solidFill>
                <a:latin typeface="Calibri"/>
              </a:rPr>
              <a:t>Importar inventario por CSV</a:t>
            </a:r>
            <a:r>
              <a:rPr sz="1500" b="0">
                <a:solidFill>
                  <a:srgbClr val="1D2420"/>
                </a:solidFill>
                <a:latin typeface="Calibri"/>
              </a:rPr>
              <a:t> · </a:t>
            </a:r>
            <a:r>
              <a:rPr sz="1500" b="1">
                <a:solidFill>
                  <a:srgbClr val="1D2420"/>
                </a:solidFill>
                <a:latin typeface="Calibri"/>
              </a:rPr>
              <a:t>Revisión de precios atípicos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Administración: </a:t>
            </a:r>
            <a:r>
              <a:rPr sz="1500" b="1">
                <a:solidFill>
                  <a:srgbClr val="1D2420"/>
                </a:solidFill>
                <a:latin typeface="Calibri"/>
              </a:rPr>
              <a:t>sesiones abiertas</a:t>
            </a:r>
            <a:r>
              <a:rPr sz="1500" b="0">
                <a:solidFill>
                  <a:srgbClr val="1D2420"/>
                </a:solidFill>
                <a:latin typeface="Calibri"/>
              </a:rPr>
              <a:t> y </a:t>
            </a:r>
            <a:r>
              <a:rPr sz="1500" b="1">
                <a:solidFill>
                  <a:srgbClr val="1D2420"/>
                </a:solidFill>
                <a:latin typeface="Calibri"/>
              </a:rPr>
              <a:t>estado de los servicios</a:t>
            </a:r>
            <a:r>
              <a:rPr sz="1500" b="0">
                <a:solidFill>
                  <a:srgbClr val="1D2420"/>
                </a:solidFill>
                <a:latin typeface="Calibri"/>
              </a:rPr>
              <a:t> con gráficas Highcharts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Reportes: </a:t>
            </a:r>
            <a:r>
              <a:rPr sz="1500" b="1">
                <a:solidFill>
                  <a:srgbClr val="1D2420"/>
                </a:solidFill>
                <a:latin typeface="Calibri"/>
              </a:rPr>
              <a:t>desempeño de proveedores</a:t>
            </a:r>
            <a:r>
              <a:rPr sz="1500" b="0">
                <a:solidFill>
                  <a:srgbClr val="1D2420"/>
                </a:solidFill>
                <a:latin typeface="Calibri"/>
              </a:rPr>
              <a:t> y </a:t>
            </a:r>
            <a:r>
              <a:rPr sz="1500" b="1">
                <a:solidFill>
                  <a:srgbClr val="1D2420"/>
                </a:solidFill>
                <a:latin typeface="Calibri"/>
              </a:rPr>
              <a:t>evolución del índice de acceso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El web sigue funcionando si un servicio cae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José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6692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2420"/>
                </a:solidFill>
                <a:latin typeface="Calibri"/>
              </a:rPr>
              <a:t>Servicio arriba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Pantalla → ms-analisis → «Fuente: ms-analisis»</a:t>
            </a:r>
          </a:p>
          <a:p>
            <a:pPr algn="l">
              <a:spcAft>
                <a:spcPts val="600"/>
              </a:spcAft>
            </a:pPr>
            <a:endParaRPr sz="18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D2420"/>
                </a:solidFill>
                <a:latin typeface="Calibri"/>
              </a:rPr>
              <a:t>Servicio caído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Pantalla → cálculo local → «Fuente: cálculo local»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Avisos → se guardan directo en MongoDB → aparecen al volver</a:t>
            </a:r>
          </a:p>
          <a:p>
            <a:pPr algn="l">
              <a:spcAft>
                <a:spcPts val="600"/>
              </a:spcAft>
            </a:pPr>
            <a:endParaRPr sz="18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D2420"/>
                </a:solidFill>
                <a:latin typeface="Calibri"/>
              </a:rPr>
              <a:t>Cortacircuitos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Tras una falla, 30 s sin volver a intentar (clave ms:caido en Redis)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463040"/>
            <a:ext cx="2286000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554480"/>
            <a:ext cx="2286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4.1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04288"/>
            <a:ext cx="2286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sin cortacircuitos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463040"/>
            <a:ext cx="2286000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0" y="1554480"/>
            <a:ext cx="2286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&lt; 0.1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304288"/>
            <a:ext cx="2286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con cortacircuitos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063240"/>
            <a:ext cx="48463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64"/>
                </a:solidFill>
                <a:latin typeface="Calibri"/>
              </a:rPr>
              <a:t>Tiempo de carga de «Cobertura» con ms-analisis detenido, medido en las pruebas.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Contratos JSON y XML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Mauro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6F4A"/>
                </a:solidFill>
                <a:latin typeface="Calibri"/>
              </a:rPr>
              <a:t>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486400" cy="2286000"/>
          </a:xfrm>
          <a:prstGeom prst="rect">
            <a:avLst/>
          </a:prstGeom>
          <a:solidFill>
            <a:srgbClr val="F7F6F2"/>
          </a:solidFill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  "comercio_id": "4489609b-…",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  "proveedor_id": "69ad862f-…",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  "partidas": [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    {"producto_id": 9, "cantidad": 20}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  ]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3444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6F4A"/>
                </a:solidFill>
                <a:latin typeface="Calibri"/>
              </a:rPr>
              <a:t>XML (validado con pedidos.xsd)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600200"/>
            <a:ext cx="5486400" cy="2286000"/>
          </a:xfrm>
          <a:prstGeom prst="rect">
            <a:avLst/>
          </a:prstGeom>
          <a:solidFill>
            <a:srgbClr val="F7F6F2"/>
          </a:solidFill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&lt;pedido_entrada xmlns="https://abastored.mx/esquemas/v1"&gt;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&lt;comercio_id&gt;4489609b-…&lt;/comercio_id&gt;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&lt;proveedor_id&gt;69ad862f-…&lt;/proveedor_id&gt;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&lt;partidas&gt;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  &lt;partida&gt;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    &lt;producto_id&gt;9&lt;/producto_id&gt;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    &lt;cantidad&gt;20&lt;/cantidad&gt;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  &lt;/partida&gt;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&lt;/partidas&gt;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&lt;/pedido_entrada&gt;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4160520"/>
          <a:ext cx="1115567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9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3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1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04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401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403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409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422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429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Significa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Mal formado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Sin sesión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Sin permiso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No existe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Regla de negocio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Datos inválidos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Demasiadas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257800"/>
            <a:ext cx="111556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Los </a:t>
            </a:r>
            <a:r>
              <a:rPr sz="1600" b="1">
                <a:solidFill>
                  <a:srgbClr val="1D2420"/>
                </a:solidFill>
                <a:latin typeface="Calibri"/>
              </a:rPr>
              <a:t>XSD se generan de los mismos modelos</a:t>
            </a:r>
            <a:r>
              <a:rPr sz="1600" b="0">
                <a:solidFill>
                  <a:srgbClr val="1D2420"/>
                </a:solidFill>
                <a:latin typeface="Calibri"/>
              </a:rPr>
              <a:t> que validan el JSON: una prueba verifica que nunca se desfasen.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MongoDB y Redis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Mauro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86400" cy="48463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64008" cy="4846320"/>
          </a:xfrm>
          <a:prstGeom prst="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A6400"/>
                </a:solidFill>
                <a:latin typeface="Calibri"/>
              </a:rPr>
              <a:t>MongoDB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2120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notificaciones</a:t>
            </a:r>
            <a:r>
              <a:rPr sz="1500" b="0">
                <a:solidFill>
                  <a:srgbClr val="1D2420"/>
                </a:solidFill>
                <a:latin typeface="Calibri"/>
              </a:rPr>
              <a:t> (caducan a los 90 días)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eventos_pedido</a:t>
            </a:r>
            <a:r>
              <a:rPr sz="1500" b="0">
                <a:solidFill>
                  <a:srgbClr val="1D2420"/>
                </a:solidFill>
                <a:latin typeface="Calibri"/>
              </a:rPr>
              <a:t> · </a:t>
            </a:r>
            <a:r>
              <a:rPr sz="1500" b="1">
                <a:solidFill>
                  <a:srgbClr val="1D2420"/>
                </a:solidFill>
                <a:latin typeface="Calibri"/>
              </a:rPr>
              <a:t>snapshots_precios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ejecuciones_analisis</a:t>
            </a:r>
            <a:r>
              <a:rPr sz="1500" b="0">
                <a:solidFill>
                  <a:srgbClr val="1D2420"/>
                </a:solidFill>
                <a:latin typeface="Calibri"/>
              </a:rPr>
              <a:t> · </a:t>
            </a:r>
            <a:r>
              <a:rPr sz="1500" b="1">
                <a:solidFill>
                  <a:srgbClr val="1D2420"/>
                </a:solidFill>
                <a:latin typeface="Calibri"/>
              </a:rPr>
              <a:t>importaciones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bitacora_peticiones</a:t>
            </a:r>
            <a:r>
              <a:rPr sz="1500" b="0">
                <a:solidFill>
                  <a:srgbClr val="1D2420"/>
                </a:solidFill>
                <a:latin typeface="Calibri"/>
              </a:rPr>
              <a:t> (30 días)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GridFS</a:t>
            </a:r>
            <a:r>
              <a:rPr sz="1500" b="0">
                <a:solidFill>
                  <a:srgbClr val="1D2420"/>
                </a:solidFill>
                <a:latin typeface="Calibri"/>
              </a:rPr>
              <a:t>: fotos, evidencias y CSV</a:t>
            </a:r>
          </a:p>
          <a:p>
            <a:pPr algn="l">
              <a:spcAft>
                <a:spcPts val="400"/>
              </a:spcAft>
            </a:pPr>
            <a:endParaRPr sz="15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Agregaciones: desempeño de proveedores, productos más pedidos, evolución del índice de acceso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5486400" cy="48463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64008" cy="4846320"/>
          </a:xfrm>
          <a:prstGeom prst="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A6400"/>
                </a:solidFill>
                <a:latin typeface="Calibri"/>
              </a:rPr>
              <a:t>Redis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Sesiones</a:t>
            </a:r>
            <a:r>
              <a:rPr sz="1500" b="0">
                <a:solidFill>
                  <a:srgbClr val="1D2420"/>
                </a:solidFill>
                <a:latin typeface="Calibri"/>
              </a:rPr>
              <a:t> y </a:t>
            </a:r>
            <a:r>
              <a:rPr sz="1500" b="1">
                <a:solidFill>
                  <a:srgbClr val="1D2420"/>
                </a:solidFill>
                <a:latin typeface="Calibri"/>
              </a:rPr>
              <a:t>tokens revocados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Caché con versión</a:t>
            </a:r>
            <a:r>
              <a:rPr sz="1500" b="0">
                <a:solidFill>
                  <a:srgbClr val="1D2420"/>
                </a:solidFill>
                <a:latin typeface="Calibri"/>
              </a:rPr>
              <a:t>: un cambio invalida todo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Contadores</a:t>
            </a:r>
            <a:r>
              <a:rPr sz="1500" b="0">
                <a:solidFill>
                  <a:srgbClr val="1D2420"/>
                </a:solidFill>
                <a:latin typeface="Calibri"/>
              </a:rPr>
              <a:t> y </a:t>
            </a:r>
            <a:r>
              <a:rPr sz="1500" b="1">
                <a:solidFill>
                  <a:srgbClr val="1D2420"/>
                </a:solidFill>
                <a:latin typeface="Calibri"/>
              </a:rPr>
              <a:t>límite por minuto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Bloqueos</a:t>
            </a:r>
            <a:r>
              <a:rPr sz="1500" b="0">
                <a:solidFill>
                  <a:srgbClr val="1D2420"/>
                </a:solidFill>
                <a:latin typeface="Calibri"/>
              </a:rPr>
              <a:t> (dos personas no importan a la vez)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Cortacircuitos</a:t>
            </a:r>
            <a:r>
              <a:rPr sz="1500" b="0">
                <a:solidFill>
                  <a:srgbClr val="1D2420"/>
                </a:solidFill>
                <a:latin typeface="Calibri"/>
              </a:rPr>
              <a:t> del web</a:t>
            </a:r>
          </a:p>
          <a:p>
            <a:pPr algn="l">
              <a:spcAft>
                <a:spcPts val="400"/>
              </a:spcAft>
            </a:pPr>
            <a:endParaRPr sz="15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Todo con tiempo de vida (TTL) explícito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Procesos nuevos: inventario y precios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Mauro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86400" cy="48463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64008" cy="4846320"/>
          </a:xfrm>
          <a:prstGeom prst="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A6400"/>
                </a:solidFill>
                <a:latin typeface="Calibri"/>
              </a:rPr>
              <a:t>Importar inventario por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2120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1. Descargar la plantilla con el inventario actual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2. Editar en Excel y subir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3. Cada fila se aplica por separado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4. Resultado: agregados, actualizados y </a:t>
            </a:r>
            <a:r>
              <a:rPr sz="1500" b="1">
                <a:solidFill>
                  <a:srgbClr val="1D2420"/>
                </a:solidFill>
                <a:latin typeface="Calibri"/>
              </a:rPr>
              <a:t>errores por fila</a:t>
            </a:r>
          </a:p>
          <a:p>
            <a:pPr algn="l">
              <a:spcAft>
                <a:spcPts val="400"/>
              </a:spcAft>
            </a:pPr>
            <a:endParaRPr sz="1500" b="1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Archivo en GridFS · resultado en MongoDB · </a:t>
            </a:r>
            <a:r>
              <a:rPr sz="1500" b="1">
                <a:solidFill>
                  <a:srgbClr val="1D2420"/>
                </a:solidFill>
                <a:latin typeface="Calibri"/>
              </a:rPr>
              <a:t>bloqueo en Redis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5486400" cy="48463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64008" cy="4846320"/>
          </a:xfrm>
          <a:prstGeom prst="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A6400"/>
                </a:solidFill>
                <a:latin typeface="Calibri"/>
              </a:rPr>
              <a:t>Revisión de precios atípicos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1. Precio fuera del </a:t>
            </a:r>
            <a:r>
              <a:rPr sz="1500" b="1">
                <a:solidFill>
                  <a:srgbClr val="1D2420"/>
                </a:solidFill>
                <a:latin typeface="Calibri"/>
              </a:rPr>
              <a:t>10–150 %</a:t>
            </a:r>
            <a:r>
              <a:rPr sz="1500" b="0">
                <a:solidFill>
                  <a:srgbClr val="1D2420"/>
                </a:solidFill>
                <a:latin typeface="Calibri"/>
              </a:rPr>
              <a:t> del promedio de la zona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2. Queda </a:t>
            </a:r>
            <a:r>
              <a:rPr sz="1500" b="1">
                <a:solidFill>
                  <a:srgbClr val="1D2420"/>
                </a:solidFill>
                <a:latin typeface="Calibri"/>
              </a:rPr>
              <a:t>pendiente</a:t>
            </a:r>
            <a:r>
              <a:rPr sz="1500" b="0">
                <a:solidFill>
                  <a:srgbClr val="1D2420"/>
                </a:solidFill>
                <a:latin typeface="Calibri"/>
              </a:rPr>
              <a:t> y no entra a la comparación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3. La coordinación </a:t>
            </a:r>
            <a:r>
              <a:rPr sz="1500" b="1">
                <a:solidFill>
                  <a:srgbClr val="1D2420"/>
                </a:solidFill>
                <a:latin typeface="Calibri"/>
              </a:rPr>
              <a:t>valida o descarta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4. El comerciante </a:t>
            </a:r>
            <a:r>
              <a:rPr sz="1500" b="1">
                <a:solidFill>
                  <a:srgbClr val="1D2420"/>
                </a:solidFill>
                <a:latin typeface="Calibri"/>
              </a:rPr>
              <a:t>recibe aviso</a:t>
            </a:r>
            <a:r>
              <a:rPr sz="1500" b="0">
                <a:solidFill>
                  <a:srgbClr val="1D2420"/>
                </a:solidFill>
                <a:latin typeface="Calibri"/>
              </a:rPr>
              <a:t> del resultado</a:t>
            </a:r>
          </a:p>
          <a:p>
            <a:pPr algn="l">
              <a:spcAft>
                <a:spcPts val="400"/>
              </a:spcAft>
            </a:pPr>
            <a:endParaRPr sz="15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Control de calidad humano sobre los datos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Pedidos y análisis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B33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David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estados_pedi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6583680" cy="2025748"/>
          </a:xfrm>
          <a:prstGeom prst="rect">
            <a:avLst/>
          </a:prstGeom>
          <a:ln w="12700">
            <a:solidFill>
              <a:srgbClr val="DEDCD4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315200" y="1280160"/>
            <a:ext cx="43891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2420"/>
                </a:solidFill>
                <a:latin typeface="Calibri"/>
              </a:rPr>
              <a:t>ms-pedidos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Acción fuera de orden → </a:t>
            </a:r>
            <a:r>
              <a:rPr sz="1600" b="1">
                <a:solidFill>
                  <a:srgbClr val="1D2420"/>
                </a:solidFill>
                <a:latin typeface="Calibri"/>
              </a:rPr>
              <a:t>409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Historial en PostgreSQL + </a:t>
            </a:r>
            <a:r>
              <a:rPr sz="1600" b="1">
                <a:solidFill>
                  <a:srgbClr val="1D2420"/>
                </a:solidFill>
                <a:latin typeface="Calibri"/>
              </a:rPr>
              <a:t>eventos en MongoDB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</a:t>
            </a:r>
            <a:r>
              <a:rPr sz="1600" b="1">
                <a:solidFill>
                  <a:srgbClr val="1D2420"/>
                </a:solidFill>
                <a:latin typeface="Calibri"/>
              </a:rPr>
              <a:t>Bloqueo en Redis</a:t>
            </a:r>
            <a:r>
              <a:rPr sz="1600" b="0">
                <a:solidFill>
                  <a:srgbClr val="1D2420"/>
                </a:solidFill>
                <a:latin typeface="Calibri"/>
              </a:rPr>
              <a:t> por pedido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Desempeño de proveedores (agregación)</a:t>
            </a:r>
          </a:p>
          <a:p>
            <a:pPr algn="l">
              <a:spcAft>
                <a:spcPts val="600"/>
              </a:spcAft>
            </a:pPr>
            <a:endParaRPr sz="16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D2420"/>
                </a:solidFill>
                <a:latin typeface="Calibri"/>
              </a:rPr>
              <a:t>ms-analisis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Cobertura, brechas, recomendaciones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</a:t>
            </a:r>
            <a:r>
              <a:rPr sz="1600" b="1">
                <a:solidFill>
                  <a:srgbClr val="1D2420"/>
                </a:solidFill>
                <a:latin typeface="Calibri"/>
              </a:rPr>
              <a:t>Caché en Redis</a:t>
            </a:r>
            <a:r>
              <a:rPr sz="1600" b="0">
                <a:solidFill>
                  <a:srgbClr val="1D2420"/>
                </a:solidFill>
                <a:latin typeface="Calibri"/>
              </a:rPr>
              <a:t> y cortes en MongoDB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Pruebas y evidencias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B33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David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874519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87451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21408"/>
            <a:ext cx="187451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unitarias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280160"/>
            <a:ext cx="1874519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1371600"/>
            <a:ext cx="187451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21408"/>
            <a:ext cx="187451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de integración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280160"/>
            <a:ext cx="1874519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371600"/>
            <a:ext cx="187451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375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21408"/>
            <a:ext cx="187451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casos de evidencia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34640"/>
            <a:ext cx="5943600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2420"/>
                </a:solidFill>
                <a:latin typeface="Calibri"/>
              </a:rPr>
              <a:t>5 casos por operación:</a:t>
            </a:r>
            <a:r>
              <a:rPr sz="1500" b="0">
                <a:solidFill>
                  <a:srgbClr val="1D2420"/>
                </a:solidFill>
                <a:latin typeface="Calibri"/>
              </a:rPr>
              <a:t> éxito · parámetros inválidos · inexistente · no autorizado · regla de negocio</a:t>
            </a:r>
          </a:p>
          <a:p>
            <a:pPr algn="l">
              <a:spcAft>
                <a:spcPts val="600"/>
              </a:spcAft>
            </a:pPr>
            <a:endParaRPr sz="15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D2420"/>
                </a:solidFill>
                <a:latin typeface="Calibri"/>
              </a:rPr>
              <a:t>Errores reales que encontraron: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Un usuario podía ver fotos de otro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El detalle del comercio fallaba por el horario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El refresh servía después del logout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El operador veía su lista de pedidos vacía</a:t>
            </a:r>
          </a:p>
        </p:txBody>
      </p:sp>
      <p:pic>
        <p:nvPicPr>
          <p:cNvPr id="17" name="Picture 16" descr="evidenc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280160"/>
            <a:ext cx="5029200" cy="3143250"/>
          </a:xfrm>
          <a:prstGeom prst="rect">
            <a:avLst/>
          </a:prstGeom>
          <a:ln w="12700">
            <a:solidFill>
              <a:srgbClr val="DEDCD4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Calibri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FE3D8"/>
                </a:solidFill>
                <a:latin typeface="Calibri"/>
              </a:rPr>
              <a:t>Siguiente avance:</a:t>
            </a:r>
            <a:r>
              <a:rPr sz="1800" b="0">
                <a:solidFill>
                  <a:srgbClr val="CFE3D8"/>
                </a:solidFill>
                <a:latin typeface="Calibri"/>
              </a:rPr>
              <a:t> app móvil (Kotlin, JSON) y de escritorio (PySide6, XML) sobre estos mismos servicios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CFE3D8"/>
                </a:solidFill>
                <a:latin typeface="Calibri"/>
              </a:rPr>
              <a:t>Documento técnico, evidencias y colección de Postman en el repositorio (docs/)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2306</Words>
  <Application>Microsoft Office PowerPoint</Application>
  <PresentationFormat>Widescreen</PresentationFormat>
  <Paragraphs>272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Jose Moreno</cp:lastModifiedBy>
  <cp:revision>2</cp:revision>
  <dcterms:created xsi:type="dcterms:W3CDTF">2013-01-27T09:14:16Z</dcterms:created>
  <dcterms:modified xsi:type="dcterms:W3CDTF">2026-10-13T18:25:52Z</dcterms:modified>
  <cp:category/>
</cp:coreProperties>
</file>