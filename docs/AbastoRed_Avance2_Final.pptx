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2" r:id="rId3"/>
    <p:sldId id="273" r:id="rId4"/>
    <p:sldId id="274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2744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754880"/>
            <a:ext cx="12191695" cy="2103120"/>
          </a:xfrm>
          <a:prstGeom prst="rect">
            <a:avLst/>
          </a:prstGeom>
          <a:solidFill>
            <a:srgbClr val="185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280160"/>
            <a:ext cx="100584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AbastoRed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31720"/>
            <a:ext cx="10515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FFFFFF"/>
                </a:solidFill>
                <a:latin typeface="Calibri"/>
              </a:rPr>
              <a:t>Avance 2 · Microservicios, integración y pruebas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63240"/>
            <a:ext cx="10515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FE3D8"/>
                </a:solidFill>
                <a:latin typeface="Calibri"/>
              </a:rPr>
              <a:t>Plataforma híbrida para comercio formal e informal · Proyecto 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7492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Equipo 01 · Integración de Aplicaciones · UDEM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532120"/>
            <a:ext cx="1078992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CFE3D8"/>
                </a:solidFill>
                <a:latin typeface="Calibri"/>
              </a:rPr>
              <a:t>José Humberto Moreno 596055 · David López 600390 · Mauro Montelongo 595821 · Humberto Vargas 604775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6F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0B4729-DFE8-41AE-9425-2722C3CC6DD2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FFFFFF"/>
                </a:solidFill>
              </a:defRPr>
            </a:defPPr>
          </a:lstStyle>
          <a:p>
            <a:pPr>
              <a:defRPr sz="3000" b="1">
                <a:solidFill>
                  <a:srgbClr val="FFFFFF"/>
                </a:solidFill>
              </a:defRPr>
            </a:pPr>
            <a:r>
              <a:rPr sz="3000" b="1">
                <a:solidFill>
                  <a:srgbClr val="FFFFFF"/>
                </a:solidFill>
              </a:rPr>
              <a:t>Objetivo de AbastoRed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AEA41AB-C103-4607-B1C7-97EC1B14619B}"/>
              </a:ext>
            </a:extLst>
          </p:cNvPr>
          <p:cNvSpPr>
            <a:spLocks noGrp="1"/>
          </p:cNvSpPr>
          <p:nvPr/>
        </p:nvSpPr>
        <p:spPr>
          <a:xfrm>
            <a:off x="666750" y="1571625"/>
            <a:ext cx="10477500" cy="1571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4950" b="1">
                <a:solidFill>
                  <a:srgbClr val="FFFFFF"/>
                </a:solidFill>
              </a:defRPr>
            </a:defPPr>
          </a:lstStyle>
          <a:p>
            <a:pPr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Conectar comercios</a:t>
            </a:r>
          </a:p>
          <a:p>
            <a:pPr>
              <a:defRPr sz="4950" b="1">
                <a:solidFill>
                  <a:srgbClr val="FFFFFF"/>
                </a:solidFill>
              </a:defRPr>
            </a:pPr>
            <a:r>
              <a:rPr sz="4950" b="1">
                <a:solidFill>
                  <a:srgbClr val="FFFFFF"/>
                </a:solidFill>
              </a:rPr>
              <a:t>con proveedores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2036E2C-91A2-4E5B-94E6-1743135D6DE4}"/>
              </a:ext>
            </a:extLst>
          </p:cNvPr>
          <p:cNvSpPr>
            <a:spLocks noGrp="1"/>
          </p:cNvSpPr>
          <p:nvPr/>
        </p:nvSpPr>
        <p:spPr>
          <a:xfrm>
            <a:off x="714375" y="3286125"/>
            <a:ext cx="106680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75" b="0">
                <a:solidFill>
                  <a:srgbClr val="CFE3D8"/>
                </a:solidFill>
              </a:defRPr>
            </a:defPPr>
          </a:lstStyle>
          <a:p>
            <a:pPr>
              <a:defRPr sz="2175" b="0">
                <a:solidFill>
                  <a:srgbClr val="CFE3D8"/>
                </a:solidFill>
              </a:defRPr>
            </a:pPr>
            <a:r>
              <a:rPr sz="2175" b="0">
                <a:solidFill>
                  <a:srgbClr val="CFE3D8"/>
                </a:solidFill>
              </a:rPr>
              <a:t>Facilitar el abastecimiento de negocios formales e informales.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E0AF808-1A32-4DA9-87A1-567E09C2BAE6}"/>
              </a:ext>
            </a:extLst>
          </p:cNvPr>
          <p:cNvSpPr>
            <a:spLocks noGrp="1"/>
          </p:cNvSpPr>
          <p:nvPr/>
        </p:nvSpPr>
        <p:spPr>
          <a:xfrm>
            <a:off x="714375" y="4429125"/>
            <a:ext cx="5048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1">
                <a:solidFill>
                  <a:srgbClr val="CFE3D8"/>
                </a:solidFill>
              </a:defRPr>
            </a:defPPr>
          </a:lstStyle>
          <a:p>
            <a:pPr>
              <a:defRPr sz="1425" b="1">
                <a:solidFill>
                  <a:srgbClr val="CFE3D8"/>
                </a:solidFill>
              </a:defRPr>
            </a:pPr>
            <a:r>
              <a:rPr sz="1425" b="1">
                <a:solidFill>
                  <a:srgbClr val="CFE3D8"/>
                </a:solidFill>
              </a:rPr>
              <a:t>CONTROL DE INVENTARIO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7EBEAA-D8E2-4D24-8119-AB4E567905BD}"/>
              </a:ext>
            </a:extLst>
          </p:cNvPr>
          <p:cNvSpPr>
            <a:spLocks noGrp="1"/>
          </p:cNvSpPr>
          <p:nvPr/>
        </p:nvSpPr>
        <p:spPr>
          <a:xfrm>
            <a:off x="714375" y="4857750"/>
            <a:ext cx="495300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FFFFFF"/>
                </a:solidFill>
              </a:defRPr>
            </a:defPPr>
          </a:lstStyle>
          <a:p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Existencias y alertas para saber</a:t>
            </a:r>
          </a:p>
          <a:p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cuándo reponer productos.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4987A2-1AA1-4BEA-B2BA-D80AA5E340CD}"/>
              </a:ext>
            </a:extLst>
          </p:cNvPr>
          <p:cNvSpPr>
            <a:spLocks noGrp="1"/>
          </p:cNvSpPr>
          <p:nvPr/>
        </p:nvSpPr>
        <p:spPr>
          <a:xfrm>
            <a:off x="6477000" y="4429125"/>
            <a:ext cx="5048250" cy="333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425" b="1">
                <a:solidFill>
                  <a:srgbClr val="CFE3D8"/>
                </a:solidFill>
              </a:defRPr>
            </a:defPPr>
          </a:lstStyle>
          <a:p>
            <a:pPr>
              <a:defRPr sz="1425" b="1">
                <a:solidFill>
                  <a:srgbClr val="CFE3D8"/>
                </a:solidFill>
              </a:defRPr>
            </a:pPr>
            <a:r>
              <a:rPr sz="1425" b="1">
                <a:solidFill>
                  <a:srgbClr val="CFE3D8"/>
                </a:solidFill>
              </a:rPr>
              <a:t>PEDIDOS A PROVEEDORES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8037FB0-BED1-41BA-A748-A353FE8484FA}"/>
              </a:ext>
            </a:extLst>
          </p:cNvPr>
          <p:cNvSpPr>
            <a:spLocks noGrp="1"/>
          </p:cNvSpPr>
          <p:nvPr/>
        </p:nvSpPr>
        <p:spPr>
          <a:xfrm>
            <a:off x="6477000" y="4857750"/>
            <a:ext cx="504825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FFFFFF"/>
                </a:solidFill>
              </a:defRPr>
            </a:defPPr>
          </a:lstStyle>
          <a:p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Comparar ofertas, pedir mercancía</a:t>
            </a:r>
          </a:p>
          <a:p>
            <a:pPr>
              <a:defRPr sz="2025" b="0">
                <a:solidFill>
                  <a:srgbClr val="FFFFFF"/>
                </a:solidFill>
              </a:defRPr>
            </a:pPr>
            <a:r>
              <a:rPr sz="2025" b="0">
                <a:solidFill>
                  <a:srgbClr val="FFFFFF"/>
                </a:solidFill>
              </a:rPr>
              <a:t>y confirmar su recepción.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11F6CB-8230-4788-925F-DBFF7FE0A3EF}"/>
              </a:ext>
            </a:extLst>
          </p:cNvPr>
          <p:cNvSpPr>
            <a:spLocks noGrp="1"/>
          </p:cNvSpPr>
          <p:nvPr/>
        </p:nvSpPr>
        <p:spPr>
          <a:xfrm>
            <a:off x="714375" y="6143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500" b="0">
                <a:solidFill>
                  <a:srgbClr val="CFE3D8"/>
                </a:solidFill>
              </a:defRPr>
            </a:defPPr>
          </a:lstStyle>
          <a:p>
            <a:pPr>
              <a:defRPr sz="1500" b="0">
                <a:solidFill>
                  <a:srgbClr val="CFE3D8"/>
                </a:solidFill>
              </a:defRPr>
            </a:pPr>
            <a:r>
              <a:rPr sz="1500" b="0">
                <a:solidFill>
                  <a:srgbClr val="CFE3D8"/>
                </a:solidFill>
              </a:rPr>
              <a:t>Comparación de precios e historial para supervisión y auditoría</a:t>
            </a:r>
          </a:p>
        </p:txBody>
      </p:sp>
      <p:sp>
        <p:nvSpPr>
          <p:cNvPr id="11" name="Rounded Rectangle 3">
            <a:extLst>
              <a:ext uri="{FF2B5EF4-FFF2-40B4-BE49-F238E27FC236}">
                <a16:creationId xmlns:a16="http://schemas.microsoft.com/office/drawing/2014/main" id="{99951751-7EE0-E671-07BE-E0F35AC717DF}"/>
              </a:ext>
            </a:extLst>
          </p:cNvPr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José</a:t>
            </a:r>
          </a:p>
        </p:txBody>
      </p:sp>
    </p:spTree>
    <p:extLst>
      <p:ext uri="{BB962C8B-B14F-4D97-AF65-F5344CB8AC3E}">
        <p14:creationId xmlns:p14="http://schemas.microsoft.com/office/powerpoint/2010/main" val="1503260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328DE6-8136-4751-B0D6-4C4CE8ACF23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47750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D2420"/>
                </a:solidFill>
              </a:defRPr>
            </a:defPPr>
          </a:lstStyle>
          <a:p>
            <a:pPr>
              <a:defRPr sz="3000" b="1">
                <a:solidFill>
                  <a:srgbClr val="1D2420"/>
                </a:solidFill>
              </a:defRPr>
            </a:pPr>
            <a:r>
              <a:rPr sz="3000" b="1">
                <a:solidFill>
                  <a:srgbClr val="1D2420"/>
                </a:solidFill>
              </a:rPr>
              <a:t>Modelo de negocio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E0E82A8-D923-4143-822D-BAF904C912B8}"/>
              </a:ext>
            </a:extLst>
          </p:cNvPr>
          <p:cNvSpPr>
            <a:spLocks noGrp="1"/>
          </p:cNvSpPr>
          <p:nvPr/>
        </p:nvSpPr>
        <p:spPr>
          <a:xfrm>
            <a:off x="571500" y="1095375"/>
            <a:ext cx="10763250" cy="571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5F6B64"/>
                </a:solidFill>
              </a:defRPr>
            </a:defPPr>
          </a:lstStyle>
          <a:p>
            <a:pPr>
              <a:defRPr sz="2025" b="0">
                <a:solidFill>
                  <a:srgbClr val="5F6B64"/>
                </a:solidFill>
              </a:defRPr>
            </a:pPr>
            <a:r>
              <a:rPr sz="2025" b="0">
                <a:solidFill>
                  <a:srgbClr val="5F6B64"/>
                </a:solidFill>
              </a:rPr>
              <a:t>Ingresos por pedidos completados y suscripción de proveedores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F0C37A7-BE9B-40D9-A88B-18047FD5BDD6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6600" b="1">
                <a:solidFill>
                  <a:srgbClr val="1F6F4A"/>
                </a:solidFill>
              </a:defRPr>
            </a:defPPr>
          </a:lstStyle>
          <a:p>
            <a:pPr>
              <a:defRPr sz="6600" b="1">
                <a:solidFill>
                  <a:srgbClr val="1F6F4A"/>
                </a:solidFill>
              </a:defRPr>
            </a:pPr>
            <a:r>
              <a:rPr sz="6600" b="1">
                <a:solidFill>
                  <a:srgbClr val="1F6F4A"/>
                </a:solidFill>
              </a:rPr>
              <a:t>3%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0CD5145-79ED-4A7D-8EF9-FB9F3BABCD00}"/>
              </a:ext>
            </a:extLst>
          </p:cNvPr>
          <p:cNvSpPr>
            <a:spLocks noGrp="1"/>
          </p:cNvSpPr>
          <p:nvPr/>
        </p:nvSpPr>
        <p:spPr>
          <a:xfrm>
            <a:off x="714375" y="3286125"/>
            <a:ext cx="495300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1D2420"/>
                </a:solidFill>
              </a:defRPr>
            </a:defPPr>
          </a:lstStyle>
          <a:p>
            <a:pPr>
              <a:defRPr sz="2250" b="1">
                <a:solidFill>
                  <a:srgbClr val="1D2420"/>
                </a:solidFill>
              </a:defRPr>
            </a:pPr>
            <a:r>
              <a:rPr sz="2250" b="1">
                <a:solidFill>
                  <a:srgbClr val="1D2420"/>
                </a:solidFill>
              </a:rPr>
              <a:t>Comisión por pedido entregado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94774F5-EAF7-40F7-A29C-D3BE79F4D00B}"/>
              </a:ext>
            </a:extLst>
          </p:cNvPr>
          <p:cNvSpPr>
            <a:spLocks noGrp="1"/>
          </p:cNvSpPr>
          <p:nvPr/>
        </p:nvSpPr>
        <p:spPr>
          <a:xfrm>
            <a:off x="714375" y="4048125"/>
            <a:ext cx="4953000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F6B64"/>
                </a:solidFill>
              </a:defRPr>
            </a:defPPr>
          </a:lstStyle>
          <a:p>
            <a:pPr>
              <a:defRPr sz="1875" b="0">
                <a:solidFill>
                  <a:srgbClr val="5F6B64"/>
                </a:solidFill>
              </a:defRPr>
            </a:pPr>
            <a:r>
              <a:rPr sz="1875" b="0">
                <a:solidFill>
                  <a:srgbClr val="5F6B64"/>
                </a:solidFill>
              </a:rPr>
              <a:t>La comisión corresponde al proveedor.</a:t>
            </a:r>
          </a:p>
          <a:p>
            <a:pPr>
              <a:defRPr sz="1875" b="0">
                <a:solidFill>
                  <a:srgbClr val="5F6B64"/>
                </a:solidFill>
              </a:defRPr>
            </a:pPr>
            <a:r>
              <a:rPr sz="1875" b="0">
                <a:solidFill>
                  <a:srgbClr val="5F6B64"/>
                </a:solidFill>
              </a:rPr>
              <a:t>El sistema la calcula al confirmar</a:t>
            </a:r>
          </a:p>
          <a:p>
            <a:pPr>
              <a:defRPr sz="1875" b="0">
                <a:solidFill>
                  <a:srgbClr val="5F6B64"/>
                </a:solidFill>
              </a:defRPr>
            </a:pPr>
            <a:r>
              <a:rPr sz="1875" b="0">
                <a:solidFill>
                  <a:srgbClr val="5F6B64"/>
                </a:solidFill>
              </a:rPr>
              <a:t>la recepción del pedido.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CCE5BA9-A76D-478C-916E-15F4FA196713}"/>
              </a:ext>
            </a:extLst>
          </p:cNvPr>
          <p:cNvSpPr>
            <a:spLocks noGrp="1"/>
          </p:cNvSpPr>
          <p:nvPr/>
        </p:nvSpPr>
        <p:spPr>
          <a:xfrm>
            <a:off x="714375" y="5381625"/>
            <a:ext cx="5048250" cy="809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F6F4A"/>
                </a:solidFill>
              </a:defRPr>
            </a:defPPr>
          </a:lstStyle>
          <a:p>
            <a:pPr>
              <a:defRPr sz="1875" b="1">
                <a:solidFill>
                  <a:srgbClr val="1F6F4A"/>
                </a:solidFill>
              </a:defRPr>
            </a:pPr>
            <a:r>
              <a:rPr sz="1875" b="1">
                <a:solidFill>
                  <a:srgbClr val="1F6F4A"/>
                </a:solidFill>
              </a:rPr>
              <a:t>Ejemplo: pedido de $1,000 MXN</a:t>
            </a:r>
          </a:p>
          <a:p>
            <a:pPr>
              <a:defRPr sz="1875" b="1">
                <a:solidFill>
                  <a:srgbClr val="1F6F4A"/>
                </a:solidFill>
              </a:defRPr>
            </a:pPr>
            <a:r>
              <a:rPr sz="1875" b="1">
                <a:solidFill>
                  <a:srgbClr val="1F6F4A"/>
                </a:solidFill>
              </a:rPr>
              <a:t>Comisión de AbastoRed: $30 MXN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5728392-5B37-49A7-A25B-7F1C186759EF}"/>
              </a:ext>
            </a:extLst>
          </p:cNvPr>
          <p:cNvSpPr>
            <a:spLocks noGrp="1"/>
          </p:cNvSpPr>
          <p:nvPr/>
        </p:nvSpPr>
        <p:spPr>
          <a:xfrm>
            <a:off x="6524625" y="2095500"/>
            <a:ext cx="4572000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6600" b="1">
                <a:solidFill>
                  <a:srgbClr val="1F6F4A"/>
                </a:solidFill>
              </a:defRPr>
            </a:defPPr>
          </a:lstStyle>
          <a:p>
            <a:pPr>
              <a:defRPr sz="6600" b="1">
                <a:solidFill>
                  <a:srgbClr val="1F6F4A"/>
                </a:solidFill>
              </a:defRPr>
            </a:pPr>
            <a:r>
              <a:rPr sz="6600" b="1">
                <a:solidFill>
                  <a:srgbClr val="1F6F4A"/>
                </a:solidFill>
              </a:rPr>
              <a:t>$499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426152-1E79-4C75-AB18-2D4466830200}"/>
              </a:ext>
            </a:extLst>
          </p:cNvPr>
          <p:cNvSpPr>
            <a:spLocks noGrp="1"/>
          </p:cNvSpPr>
          <p:nvPr/>
        </p:nvSpPr>
        <p:spPr>
          <a:xfrm>
            <a:off x="8953500" y="2809875"/>
            <a:ext cx="257175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00" b="0">
                <a:solidFill>
                  <a:srgbClr val="5F6B64"/>
                </a:solidFill>
              </a:defRPr>
            </a:defPPr>
          </a:lstStyle>
          <a:p>
            <a:pPr>
              <a:defRPr sz="1800" b="0">
                <a:solidFill>
                  <a:srgbClr val="5F6B64"/>
                </a:solidFill>
              </a:defRPr>
            </a:pPr>
            <a:r>
              <a:rPr sz="1800" b="0">
                <a:solidFill>
                  <a:srgbClr val="5F6B64"/>
                </a:solidFill>
              </a:rPr>
              <a:t>MXN al mes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76088E0-AAB5-4F19-B6D2-7BC8C3862C69}"/>
              </a:ext>
            </a:extLst>
          </p:cNvPr>
          <p:cNvSpPr>
            <a:spLocks noGrp="1"/>
          </p:cNvSpPr>
          <p:nvPr/>
        </p:nvSpPr>
        <p:spPr>
          <a:xfrm>
            <a:off x="6572250" y="3286125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1D2420"/>
                </a:solidFill>
              </a:defRPr>
            </a:defPPr>
          </a:lstStyle>
          <a:p>
            <a:pPr>
              <a:defRPr sz="2250" b="1">
                <a:solidFill>
                  <a:srgbClr val="1D2420"/>
                </a:solidFill>
              </a:defRPr>
            </a:pPr>
            <a:r>
              <a:rPr sz="2250" b="1">
                <a:solidFill>
                  <a:srgbClr val="1D2420"/>
                </a:solidFill>
              </a:rPr>
              <a:t>Plan Destacado para proveedores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789FF3C-CA2E-4231-8939-301EFFE65FE7}"/>
              </a:ext>
            </a:extLst>
          </p:cNvPr>
          <p:cNvSpPr>
            <a:spLocks noGrp="1"/>
          </p:cNvSpPr>
          <p:nvPr/>
        </p:nvSpPr>
        <p:spPr>
          <a:xfrm>
            <a:off x="6572250" y="4048125"/>
            <a:ext cx="4857750" cy="1095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0">
                <a:solidFill>
                  <a:srgbClr val="5F6B64"/>
                </a:solidFill>
              </a:defRPr>
            </a:defPPr>
          </a:lstStyle>
          <a:p>
            <a:pPr>
              <a:defRPr sz="1875" b="0">
                <a:solidFill>
                  <a:srgbClr val="5F6B64"/>
                </a:solidFill>
              </a:defRPr>
            </a:pPr>
            <a:r>
              <a:rPr sz="1875" b="0">
                <a:solidFill>
                  <a:srgbClr val="5F6B64"/>
                </a:solidFill>
              </a:rPr>
              <a:t>Suscripción con acceso al reporte</a:t>
            </a:r>
          </a:p>
          <a:p>
            <a:pPr>
              <a:defRPr sz="1875" b="0">
                <a:solidFill>
                  <a:srgbClr val="5F6B64"/>
                </a:solidFill>
              </a:defRPr>
            </a:pPr>
            <a:r>
              <a:rPr sz="1875" b="0">
                <a:solidFill>
                  <a:srgbClr val="5F6B64"/>
                </a:solidFill>
              </a:rPr>
              <a:t>de oportunidades de surtido</a:t>
            </a:r>
          </a:p>
          <a:p>
            <a:pPr>
              <a:defRPr sz="1875" b="0">
                <a:solidFill>
                  <a:srgbClr val="5F6B64"/>
                </a:solidFill>
              </a:defRPr>
            </a:pPr>
            <a:r>
              <a:rPr sz="1875" b="0">
                <a:solidFill>
                  <a:srgbClr val="5F6B64"/>
                </a:solidFill>
              </a:rPr>
              <a:t>para proveedores.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ACDA0EE-5879-417F-8001-5FBF22A036D9}"/>
              </a:ext>
            </a:extLst>
          </p:cNvPr>
          <p:cNvSpPr>
            <a:spLocks noGrp="1"/>
          </p:cNvSpPr>
          <p:nvPr/>
        </p:nvSpPr>
        <p:spPr>
          <a:xfrm>
            <a:off x="6572250" y="5429250"/>
            <a:ext cx="4762500" cy="7143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1F6F4A"/>
                </a:solidFill>
              </a:defRPr>
            </a:defPPr>
          </a:lstStyle>
          <a:p>
            <a:pPr>
              <a:defRPr sz="1875" b="1">
                <a:solidFill>
                  <a:srgbClr val="1F6F4A"/>
                </a:solidFill>
              </a:defRPr>
            </a:pPr>
            <a:r>
              <a:rPr sz="1875" b="1">
                <a:solidFill>
                  <a:srgbClr val="1F6F4A"/>
                </a:solidFill>
              </a:rPr>
              <a:t>Ingresos recurrentes por suscripción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4B7D4BF-6F2F-480C-8D99-91E4ECBDF196}"/>
              </a:ext>
            </a:extLst>
          </p:cNvPr>
          <p:cNvSpPr>
            <a:spLocks noGrp="1"/>
          </p:cNvSpPr>
          <p:nvPr/>
        </p:nvSpPr>
        <p:spPr>
          <a:xfrm>
            <a:off x="571500" y="6429375"/>
            <a:ext cx="11049000" cy="285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200" b="0">
                <a:solidFill>
                  <a:srgbClr val="5F6B64"/>
                </a:solidFill>
              </a:defRPr>
            </a:defPPr>
          </a:lstStyle>
          <a:p>
            <a:pPr>
              <a:defRPr sz="1200" b="0">
                <a:solidFill>
                  <a:srgbClr val="5F6B64"/>
                </a:solidFill>
              </a:defRPr>
            </a:pPr>
            <a:r>
              <a:rPr sz="1200" b="0">
                <a:solidFill>
                  <a:srgbClr val="5F6B64"/>
                </a:solidFill>
              </a:rPr>
              <a:t>Tarifas iniciales configuradas en el proyecto. El cobro no implica una pasarela de pago integrada.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51E74AEB-F1FF-F95C-0BF0-D3C992800217}"/>
              </a:ext>
            </a:extLst>
          </p:cNvPr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José</a:t>
            </a:r>
          </a:p>
        </p:txBody>
      </p:sp>
    </p:spTree>
    <p:extLst>
      <p:ext uri="{BB962C8B-B14F-4D97-AF65-F5344CB8AC3E}">
        <p14:creationId xmlns:p14="http://schemas.microsoft.com/office/powerpoint/2010/main" val="11951427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891837-033F-4FC5-87F3-7830F5BED26A}"/>
              </a:ext>
            </a:extLst>
          </p:cNvPr>
          <p:cNvSpPr>
            <a:spLocks noGrp="1"/>
          </p:cNvSpPr>
          <p:nvPr/>
        </p:nvSpPr>
        <p:spPr>
          <a:xfrm>
            <a:off x="571500" y="38100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3000" b="1">
                <a:solidFill>
                  <a:srgbClr val="1D2420"/>
                </a:solidFill>
              </a:defRPr>
            </a:defPPr>
          </a:lstStyle>
          <a:p>
            <a:pPr>
              <a:defRPr sz="3000" b="1">
                <a:solidFill>
                  <a:srgbClr val="1D2420"/>
                </a:solidFill>
              </a:defRPr>
            </a:pPr>
            <a:r>
              <a:rPr sz="3000" b="1">
                <a:solidFill>
                  <a:srgbClr val="1D2420"/>
                </a:solidFill>
              </a:rPr>
              <a:t>Perfiles del sistema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C24310A-4DF4-4950-8364-98036EBE6322}"/>
              </a:ext>
            </a:extLst>
          </p:cNvPr>
          <p:cNvSpPr>
            <a:spLocks noGrp="1"/>
          </p:cNvSpPr>
          <p:nvPr/>
        </p:nvSpPr>
        <p:spPr>
          <a:xfrm>
            <a:off x="571500" y="1095375"/>
            <a:ext cx="10953750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5F6B64"/>
                </a:solidFill>
              </a:defRPr>
            </a:defPPr>
          </a:lstStyle>
          <a:p>
            <a:pPr>
              <a:defRPr sz="1950" b="0">
                <a:solidFill>
                  <a:srgbClr val="5F6B64"/>
                </a:solidFill>
              </a:defRPr>
            </a:pPr>
            <a:r>
              <a:rPr sz="1950" b="0">
                <a:solidFill>
                  <a:srgbClr val="5F6B64"/>
                </a:solidFill>
              </a:rPr>
              <a:t>Ocho roles con permisos según su responsabilidad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1BF125-6092-439A-BC30-22DFAB3E2D29}"/>
              </a:ext>
            </a:extLst>
          </p:cNvPr>
          <p:cNvSpPr>
            <a:spLocks noGrp="1"/>
          </p:cNvSpPr>
          <p:nvPr/>
        </p:nvSpPr>
        <p:spPr>
          <a:xfrm>
            <a:off x="619125" y="1952625"/>
            <a:ext cx="5191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F6F4A"/>
                </a:solidFill>
              </a:defRPr>
            </a:defPPr>
          </a:lstStyle>
          <a:p>
            <a:pPr>
              <a:defRPr sz="2100" b="1">
                <a:solidFill>
                  <a:srgbClr val="1F6F4A"/>
                </a:solidFill>
              </a:defRPr>
            </a:pPr>
            <a:r>
              <a:rPr sz="2100" b="1">
                <a:solidFill>
                  <a:srgbClr val="1F6F4A"/>
                </a:solidFill>
              </a:rPr>
              <a:t>Administrador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06BF54-24F3-40CB-913B-B58645F5A720}"/>
              </a:ext>
            </a:extLst>
          </p:cNvPr>
          <p:cNvSpPr>
            <a:spLocks noGrp="1"/>
          </p:cNvSpPr>
          <p:nvPr/>
        </p:nvSpPr>
        <p:spPr>
          <a:xfrm>
            <a:off x="619125" y="2352675"/>
            <a:ext cx="52387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F6B64"/>
                </a:solidFill>
              </a:defRPr>
            </a:defPPr>
          </a:lstStyle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Gestiona usuarios, roles y configuración.</a:t>
            </a:r>
          </a:p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Supervisa servicios y operaciones.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F1E678-4FA1-4E19-BEFF-3102A4001AE6}"/>
              </a:ext>
            </a:extLst>
          </p:cNvPr>
          <p:cNvSpPr>
            <a:spLocks noGrp="1"/>
          </p:cNvSpPr>
          <p:nvPr/>
        </p:nvSpPr>
        <p:spPr>
          <a:xfrm>
            <a:off x="619125" y="3057525"/>
            <a:ext cx="5191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F6F4A"/>
                </a:solidFill>
              </a:defRPr>
            </a:defPPr>
          </a:lstStyle>
          <a:p>
            <a:pPr>
              <a:defRPr sz="2100" b="1">
                <a:solidFill>
                  <a:srgbClr val="1F6F4A"/>
                </a:solidFill>
              </a:defRPr>
            </a:pPr>
            <a:r>
              <a:rPr sz="2100" b="1">
                <a:solidFill>
                  <a:srgbClr val="1F6F4A"/>
                </a:solidFill>
              </a:rPr>
              <a:t>Comerciante Informal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4AFEE1-DF4F-4C08-8ADB-2698C7347024}"/>
              </a:ext>
            </a:extLst>
          </p:cNvPr>
          <p:cNvSpPr>
            <a:spLocks noGrp="1"/>
          </p:cNvSpPr>
          <p:nvPr/>
        </p:nvSpPr>
        <p:spPr>
          <a:xfrm>
            <a:off x="619125" y="3457575"/>
            <a:ext cx="52387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F6B64"/>
                </a:solidFill>
              </a:defRPr>
            </a:defPPr>
          </a:lstStyle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Administra su puesto, inventario y precios.</a:t>
            </a:r>
          </a:p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Realiza pedidos a proveedores.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610489-5A3D-4695-AE90-A3A3C70BB21A}"/>
              </a:ext>
            </a:extLst>
          </p:cNvPr>
          <p:cNvSpPr>
            <a:spLocks noGrp="1"/>
          </p:cNvSpPr>
          <p:nvPr/>
        </p:nvSpPr>
        <p:spPr>
          <a:xfrm>
            <a:off x="619125" y="4162425"/>
            <a:ext cx="5191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F6F4A"/>
                </a:solidFill>
              </a:defRPr>
            </a:defPPr>
          </a:lstStyle>
          <a:p>
            <a:pPr>
              <a:defRPr sz="2100" b="1">
                <a:solidFill>
                  <a:srgbClr val="1F6F4A"/>
                </a:solidFill>
              </a:defRPr>
            </a:pPr>
            <a:r>
              <a:rPr sz="2100" b="1">
                <a:solidFill>
                  <a:srgbClr val="1F6F4A"/>
                </a:solidFill>
              </a:rPr>
              <a:t>Minorista Formal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07461F5-F58C-4DB1-8C07-55D129157505}"/>
              </a:ext>
            </a:extLst>
          </p:cNvPr>
          <p:cNvSpPr>
            <a:spLocks noGrp="1"/>
          </p:cNvSpPr>
          <p:nvPr/>
        </p:nvSpPr>
        <p:spPr>
          <a:xfrm>
            <a:off x="619125" y="4562475"/>
            <a:ext cx="52387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F6B64"/>
                </a:solidFill>
              </a:defRPr>
            </a:defPPr>
          </a:lstStyle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Administra sus tiendas e inventario.</a:t>
            </a:r>
          </a:p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Importa CSV y realiza pedidos.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03CA53-B2AA-4CD8-A3F7-7CC490EBFAA2}"/>
              </a:ext>
            </a:extLst>
          </p:cNvPr>
          <p:cNvSpPr>
            <a:spLocks noGrp="1"/>
          </p:cNvSpPr>
          <p:nvPr/>
        </p:nvSpPr>
        <p:spPr>
          <a:xfrm>
            <a:off x="619125" y="5267325"/>
            <a:ext cx="5191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F6F4A"/>
                </a:solidFill>
              </a:defRPr>
            </a:defPPr>
          </a:lstStyle>
          <a:p>
            <a:pPr>
              <a:defRPr sz="2100" b="1">
                <a:solidFill>
                  <a:srgbClr val="1F6F4A"/>
                </a:solidFill>
              </a:defRPr>
            </a:pPr>
            <a:r>
              <a:rPr sz="2100" b="1">
                <a:solidFill>
                  <a:srgbClr val="1F6F4A"/>
                </a:solidFill>
              </a:rPr>
              <a:t>Proveedor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64023EF-AE92-45DF-8536-838AF092FE07}"/>
              </a:ext>
            </a:extLst>
          </p:cNvPr>
          <p:cNvSpPr>
            <a:spLocks noGrp="1"/>
          </p:cNvSpPr>
          <p:nvPr/>
        </p:nvSpPr>
        <p:spPr>
          <a:xfrm>
            <a:off x="619125" y="5667375"/>
            <a:ext cx="52387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F6B64"/>
                </a:solidFill>
              </a:defRPr>
            </a:defPPr>
          </a:lstStyle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Publica ofertas de mayoreo y atiende</a:t>
            </a:r>
          </a:p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pedidos hasta su entrega.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01255E2-7364-4A35-A48C-9FFADFE88F3E}"/>
              </a:ext>
            </a:extLst>
          </p:cNvPr>
          <p:cNvSpPr>
            <a:spLocks noGrp="1"/>
          </p:cNvSpPr>
          <p:nvPr/>
        </p:nvSpPr>
        <p:spPr>
          <a:xfrm>
            <a:off x="6334125" y="1952625"/>
            <a:ext cx="5191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F6F4A"/>
                </a:solidFill>
              </a:defRPr>
            </a:defPPr>
          </a:lstStyle>
          <a:p>
            <a:pPr>
              <a:defRPr sz="2100" b="1">
                <a:solidFill>
                  <a:srgbClr val="1F6F4A"/>
                </a:solidFill>
              </a:defRPr>
            </a:pPr>
            <a:r>
              <a:rPr sz="2100" b="1">
                <a:solidFill>
                  <a:srgbClr val="1F6F4A"/>
                </a:solidFill>
              </a:rPr>
              <a:t>Operador de Proveedor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BF0A67-1944-46B7-A00F-D563ED1A7043}"/>
              </a:ext>
            </a:extLst>
          </p:cNvPr>
          <p:cNvSpPr>
            <a:spLocks noGrp="1"/>
          </p:cNvSpPr>
          <p:nvPr/>
        </p:nvSpPr>
        <p:spPr>
          <a:xfrm>
            <a:off x="6334125" y="2352675"/>
            <a:ext cx="52387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F6B64"/>
                </a:solidFill>
              </a:defRPr>
            </a:defPPr>
          </a:lstStyle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Atiende los pedidos del proveedor</a:t>
            </a:r>
          </a:p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al que pertenece.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69ED8A-740D-4F13-B4E0-4BF1FF0A5DEE}"/>
              </a:ext>
            </a:extLst>
          </p:cNvPr>
          <p:cNvSpPr>
            <a:spLocks noGrp="1"/>
          </p:cNvSpPr>
          <p:nvPr/>
        </p:nvSpPr>
        <p:spPr>
          <a:xfrm>
            <a:off x="6334125" y="3057525"/>
            <a:ext cx="5191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F6F4A"/>
                </a:solidFill>
              </a:defRPr>
            </a:defPPr>
          </a:lstStyle>
          <a:p>
            <a:pPr>
              <a:defRPr sz="2100" b="1">
                <a:solidFill>
                  <a:srgbClr val="1F6F4A"/>
                </a:solidFill>
              </a:defRPr>
            </a:pPr>
            <a:r>
              <a:rPr sz="2100" b="1">
                <a:solidFill>
                  <a:srgbClr val="1F6F4A"/>
                </a:solidFill>
              </a:rPr>
              <a:t>Coordinador Municipal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7D9DC3F-C3E8-4EE8-B779-E22DF3F9A2CB}"/>
              </a:ext>
            </a:extLst>
          </p:cNvPr>
          <p:cNvSpPr>
            <a:spLocks noGrp="1"/>
          </p:cNvSpPr>
          <p:nvPr/>
        </p:nvSpPr>
        <p:spPr>
          <a:xfrm>
            <a:off x="6334125" y="3457575"/>
            <a:ext cx="52387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F6B64"/>
                </a:solidFill>
              </a:defRPr>
            </a:defPPr>
          </a:lstStyle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Valida comercios y revisa</a:t>
            </a:r>
          </a:p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precios atípicos.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4D6A83-42D3-4DC8-8FD8-77F2F451D3E0}"/>
              </a:ext>
            </a:extLst>
          </p:cNvPr>
          <p:cNvSpPr>
            <a:spLocks noGrp="1"/>
          </p:cNvSpPr>
          <p:nvPr/>
        </p:nvSpPr>
        <p:spPr>
          <a:xfrm>
            <a:off x="6334125" y="4162425"/>
            <a:ext cx="5191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F6F4A"/>
                </a:solidFill>
              </a:defRPr>
            </a:defPPr>
          </a:lstStyle>
          <a:p>
            <a:pPr>
              <a:defRPr sz="2100" b="1">
                <a:solidFill>
                  <a:srgbClr val="1F6F4A"/>
                </a:solidFill>
              </a:defRPr>
            </a:pPr>
            <a:r>
              <a:rPr sz="2100" b="1">
                <a:solidFill>
                  <a:srgbClr val="1F6F4A"/>
                </a:solidFill>
              </a:rPr>
              <a:t>Analista de Mercado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313899B-5CD3-424D-9632-901EBC06A75E}"/>
              </a:ext>
            </a:extLst>
          </p:cNvPr>
          <p:cNvSpPr>
            <a:spLocks noGrp="1"/>
          </p:cNvSpPr>
          <p:nvPr/>
        </p:nvSpPr>
        <p:spPr>
          <a:xfrm>
            <a:off x="6334125" y="4562475"/>
            <a:ext cx="52387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F6B64"/>
                </a:solidFill>
              </a:defRPr>
            </a:defPPr>
          </a:lstStyle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Consulta precios, cobertura y brechas</a:t>
            </a:r>
          </a:p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de surtido para analizar el mercado.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2C2DF9-5B20-4082-8B1E-025628A47F09}"/>
              </a:ext>
            </a:extLst>
          </p:cNvPr>
          <p:cNvSpPr>
            <a:spLocks noGrp="1"/>
          </p:cNvSpPr>
          <p:nvPr/>
        </p:nvSpPr>
        <p:spPr>
          <a:xfrm>
            <a:off x="6334125" y="5267325"/>
            <a:ext cx="5191125" cy="3810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100" b="1">
                <a:solidFill>
                  <a:srgbClr val="1F6F4A"/>
                </a:solidFill>
              </a:defRPr>
            </a:defPPr>
          </a:lstStyle>
          <a:p>
            <a:pPr>
              <a:defRPr sz="2100" b="1">
                <a:solidFill>
                  <a:srgbClr val="1F6F4A"/>
                </a:solidFill>
              </a:defRPr>
            </a:pPr>
            <a:r>
              <a:rPr sz="2100" b="1">
                <a:solidFill>
                  <a:srgbClr val="1F6F4A"/>
                </a:solidFill>
              </a:rPr>
              <a:t>Auditor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B574FCF-6BF8-42D0-9971-B15E8297E18A}"/>
              </a:ext>
            </a:extLst>
          </p:cNvPr>
          <p:cNvSpPr>
            <a:spLocks noGrp="1"/>
          </p:cNvSpPr>
          <p:nvPr/>
        </p:nvSpPr>
        <p:spPr>
          <a:xfrm>
            <a:off x="6334125" y="5667375"/>
            <a:ext cx="5238750" cy="6286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5F6B64"/>
                </a:solidFill>
              </a:defRPr>
            </a:defPPr>
          </a:lstStyle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Revisa bitácoras, cambios e historial</a:t>
            </a:r>
          </a:p>
          <a:p>
            <a:pPr>
              <a:defRPr sz="1725" b="0">
                <a:solidFill>
                  <a:srgbClr val="5F6B64"/>
                </a:solidFill>
              </a:defRPr>
            </a:pPr>
            <a:r>
              <a:rPr sz="1725" b="0">
                <a:solidFill>
                  <a:srgbClr val="5F6B64"/>
                </a:solidFill>
              </a:rPr>
              <a:t>de pedidos con acceso de consulta.</a:t>
            </a:r>
          </a:p>
        </p:txBody>
      </p:sp>
      <p:sp>
        <p:nvSpPr>
          <p:cNvPr id="22" name="Rounded Rectangle 3">
            <a:extLst>
              <a:ext uri="{FF2B5EF4-FFF2-40B4-BE49-F238E27FC236}">
                <a16:creationId xmlns:a16="http://schemas.microsoft.com/office/drawing/2014/main" id="{68A7843F-1F0B-DB9D-6738-F846F188AA0F}"/>
              </a:ext>
            </a:extLst>
          </p:cNvPr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José</a:t>
            </a:r>
          </a:p>
        </p:txBody>
      </p:sp>
    </p:spTree>
    <p:extLst>
      <p:ext uri="{BB962C8B-B14F-4D97-AF65-F5344CB8AC3E}">
        <p14:creationId xmlns:p14="http://schemas.microsoft.com/office/powerpoint/2010/main" val="10453950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Del monolito a 8 microservicios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64"/>
                </a:solidFill>
                <a:latin typeface="Calibri"/>
              </a:rPr>
              <a:t>Lo que trae este avance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246888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2468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32888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microservicios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691640"/>
            <a:ext cx="246888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337560" y="1783080"/>
            <a:ext cx="246888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87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532888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operaciones de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429000"/>
            <a:ext cx="11155680" cy="2743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1D2420"/>
                </a:solidFill>
                <a:latin typeface="Calibri"/>
              </a:rPr>
              <a:t>• Cada servicio en </a:t>
            </a:r>
            <a:r>
              <a:rPr sz="1900" b="1">
                <a:solidFill>
                  <a:srgbClr val="1D2420"/>
                </a:solidFill>
                <a:latin typeface="Calibri"/>
              </a:rPr>
              <a:t>su propio contenedor</a:t>
            </a:r>
            <a:r>
              <a:rPr sz="1900" b="0">
                <a:solidFill>
                  <a:srgbClr val="1D2420"/>
                </a:solidFill>
                <a:latin typeface="Calibri"/>
              </a:rPr>
              <a:t>, versión </a:t>
            </a:r>
            <a:r>
              <a:rPr sz="1900" b="1">
                <a:solidFill>
                  <a:srgbClr val="1D2420"/>
                </a:solidFill>
                <a:latin typeface="Calibri"/>
              </a:rPr>
              <a:t>/api/v1</a:t>
            </a:r>
            <a:r>
              <a:rPr sz="1900" b="0">
                <a:solidFill>
                  <a:srgbClr val="1D2420"/>
                </a:solidFill>
                <a:latin typeface="Calibri"/>
              </a:rPr>
              <a:t>, con </a:t>
            </a:r>
            <a:r>
              <a:rPr sz="1900" b="1">
                <a:solidFill>
                  <a:srgbClr val="1D2420"/>
                </a:solidFill>
                <a:latin typeface="Calibri"/>
              </a:rPr>
              <a:t>Swagger</a:t>
            </a:r>
            <a:r>
              <a:rPr sz="1900" b="0">
                <a:solidFill>
                  <a:srgbClr val="1D2420"/>
                </a:solidFill>
                <a:latin typeface="Calibri"/>
              </a:rPr>
              <a:t> y </a:t>
            </a:r>
            <a:r>
              <a:rPr sz="1900" b="1">
                <a:solidFill>
                  <a:srgbClr val="1D2420"/>
                </a:solidFill>
                <a:latin typeface="Calibri"/>
              </a:rPr>
              <a:t>/health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D2420"/>
                </a:solidFill>
                <a:latin typeface="Calibri"/>
              </a:rPr>
              <a:t>• </a:t>
            </a:r>
            <a:r>
              <a:rPr sz="1900" b="1">
                <a:solidFill>
                  <a:srgbClr val="1D2420"/>
                </a:solidFill>
                <a:latin typeface="Calibri"/>
              </a:rPr>
              <a:t>Un solo inicio de sesión</a:t>
            </a:r>
            <a:r>
              <a:rPr sz="1900" b="0">
                <a:solidFill>
                  <a:srgbClr val="1D2420"/>
                </a:solidFill>
                <a:latin typeface="Calibri"/>
              </a:rPr>
              <a:t> para todo: token JWT verificado en </a:t>
            </a:r>
            <a:r>
              <a:rPr sz="1900" b="1">
                <a:solidFill>
                  <a:srgbClr val="1D2420"/>
                </a:solidFill>
                <a:latin typeface="Calibri"/>
              </a:rPr>
              <a:t>Redis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D2420"/>
                </a:solidFill>
                <a:latin typeface="Calibri"/>
              </a:rPr>
              <a:t>• Respuestas en </a:t>
            </a:r>
            <a:r>
              <a:rPr sz="1900" b="1">
                <a:solidFill>
                  <a:srgbClr val="1D2420"/>
                </a:solidFill>
                <a:latin typeface="Calibri"/>
              </a:rPr>
              <a:t>JSON o XML</a:t>
            </a:r>
            <a:r>
              <a:rPr sz="1900" b="0">
                <a:solidFill>
                  <a:srgbClr val="1D2420"/>
                </a:solidFill>
                <a:latin typeface="Calibri"/>
              </a:rPr>
              <a:t> con contratos </a:t>
            </a:r>
            <a:r>
              <a:rPr sz="1900" b="1">
                <a:solidFill>
                  <a:srgbClr val="1D2420"/>
                </a:solidFill>
                <a:latin typeface="Calibri"/>
              </a:rPr>
              <a:t>XSD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D2420"/>
                </a:solidFill>
                <a:latin typeface="Calibri"/>
              </a:rPr>
              <a:t>• </a:t>
            </a:r>
            <a:r>
              <a:rPr sz="1900" b="1">
                <a:solidFill>
                  <a:srgbClr val="1D2420"/>
                </a:solidFill>
                <a:latin typeface="Calibri"/>
              </a:rPr>
              <a:t>PostgreSQL, MongoDB y Redis</a:t>
            </a:r>
            <a:r>
              <a:rPr sz="1900" b="0">
                <a:solidFill>
                  <a:srgbClr val="1D2420"/>
                </a:solidFill>
                <a:latin typeface="Calibri"/>
              </a:rPr>
              <a:t> con operaciones reales</a:t>
            </a:r>
          </a:p>
          <a:p>
            <a:pPr algn="l">
              <a:spcAft>
                <a:spcPts val="600"/>
              </a:spcAft>
            </a:pPr>
            <a:r>
              <a:rPr sz="1900" b="0">
                <a:solidFill>
                  <a:srgbClr val="1D2420"/>
                </a:solidFill>
                <a:latin typeface="Calibri"/>
              </a:rPr>
              <a:t>• </a:t>
            </a:r>
            <a:r>
              <a:rPr sz="1900" b="1">
                <a:solidFill>
                  <a:srgbClr val="1D2420"/>
                </a:solidFill>
                <a:latin typeface="Calibri"/>
              </a:rPr>
              <a:t>Web ampliado</a:t>
            </a:r>
            <a:r>
              <a:rPr sz="1900" b="0">
                <a:solidFill>
                  <a:srgbClr val="1D2420"/>
                </a:solidFill>
                <a:latin typeface="Calibri"/>
              </a:rPr>
              <a:t>: nuevo perfil, procesos nuevos y administración; sigue funcionando si un servicio cae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Arquitectura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3</a:t>
            </a:r>
          </a:p>
        </p:txBody>
      </p:sp>
      <p:pic>
        <p:nvPicPr>
          <p:cNvPr id="7" name="Picture 6" descr="microservic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" y="1097280"/>
            <a:ext cx="8190411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¿Por qué estos 8 servicios?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34440"/>
          <a:ext cx="11155679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3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Servicio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Puerto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Se encarga de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ms-seguridad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8101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Login, sesiones, usuarios, roles, auditoría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ms-comercios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8102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Registro y validación de comercios, zonas, fotos (GridFS)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ms-catalogo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8103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Productos, proveedores, «¿quién me vende?»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ms-inventario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8104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Existencias, movimientos, carga CSV, disponibilidad pública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ms-precios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8105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Precios, revisión de atípicos, comparación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ms-pedidos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8106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Pedidos, estados, historial, desempeño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ms-analisis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8107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Cobertura, brechas, recomendaciones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ms-notificaciones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8108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Avisos a usuarios y contador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5532120"/>
            <a:ext cx="1115568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F6F4A"/>
                </a:solidFill>
                <a:latin typeface="Calibri"/>
              </a:rPr>
              <a:t>Criterio: </a:t>
            </a:r>
            <a:r>
              <a:rPr sz="1700" b="1">
                <a:solidFill>
                  <a:srgbClr val="1F6F4A"/>
                </a:solidFill>
                <a:latin typeface="Calibri"/>
              </a:rPr>
              <a:t>un servicio por capacidad de negocio</a:t>
            </a:r>
            <a:r>
              <a:rPr sz="1700" b="0">
                <a:solidFill>
                  <a:srgbClr val="1F6F4A"/>
                </a:solidFill>
                <a:latin typeface="Calibri"/>
              </a:rPr>
              <a:t> y </a:t>
            </a:r>
            <a:r>
              <a:rPr sz="1700" b="1">
                <a:solidFill>
                  <a:srgbClr val="1F6F4A"/>
                </a:solidFill>
                <a:latin typeface="Calibri"/>
              </a:rPr>
              <a:t>un solo dueño por tabla</a:t>
            </a:r>
            <a:r>
              <a:rPr sz="1700" b="0">
                <a:solidFill>
                  <a:srgbClr val="1F6F4A"/>
                </a:solidFill>
                <a:latin typeface="Calibri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Lo que todos los servicios hacen igual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64"/>
                </a:solidFill>
                <a:latin typeface="Calibri"/>
              </a:rPr>
              <a:t>Biblioteca compartida abasto_api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5394960" cy="44805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64008" cy="448056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09928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F6F4A"/>
                </a:solidFill>
                <a:latin typeface="Calibri"/>
              </a:rPr>
              <a:t>Cada petición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48840"/>
            <a:ext cx="5120640" cy="3840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Ruta versionada </a:t>
            </a:r>
            <a:r>
              <a:rPr sz="1600" b="1">
                <a:solidFill>
                  <a:srgbClr val="1D2420"/>
                </a:solidFill>
                <a:latin typeface="Calibri"/>
              </a:rPr>
              <a:t>/api/v1/...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Token y </a:t>
            </a:r>
            <a:r>
              <a:rPr sz="1600" b="1">
                <a:solidFill>
                  <a:srgbClr val="1D2420"/>
                </a:solidFill>
                <a:latin typeface="Calibri"/>
              </a:rPr>
              <a:t>permiso</a:t>
            </a:r>
            <a:r>
              <a:rPr sz="1600" b="0">
                <a:solidFill>
                  <a:srgbClr val="1D2420"/>
                </a:solidFill>
                <a:latin typeface="Calibri"/>
              </a:rPr>
              <a:t> antes de leer los datos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</a:t>
            </a:r>
            <a:r>
              <a:rPr sz="1600" b="1">
                <a:solidFill>
                  <a:srgbClr val="1D2420"/>
                </a:solidFill>
                <a:latin typeface="Calibri"/>
              </a:rPr>
              <a:t>Validación</a:t>
            </a:r>
            <a:r>
              <a:rPr sz="1600" b="0">
                <a:solidFill>
                  <a:srgbClr val="1D2420"/>
                </a:solidFill>
                <a:latin typeface="Calibri"/>
              </a:rPr>
              <a:t> campo por campo (422)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Responde </a:t>
            </a:r>
            <a:r>
              <a:rPr sz="1600" b="1">
                <a:solidFill>
                  <a:srgbClr val="1D2420"/>
                </a:solidFill>
                <a:latin typeface="Calibri"/>
              </a:rPr>
              <a:t>JSON o XML</a:t>
            </a:r>
            <a:r>
              <a:rPr sz="1600" b="0">
                <a:solidFill>
                  <a:srgbClr val="1D2420"/>
                </a:solidFill>
                <a:latin typeface="Calibri"/>
              </a:rPr>
              <a:t> según lo que pida el cliente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</a:t>
            </a:r>
            <a:r>
              <a:rPr sz="1600" b="1">
                <a:solidFill>
                  <a:srgbClr val="1D2420"/>
                </a:solidFill>
                <a:latin typeface="Calibri"/>
              </a:rPr>
              <a:t>120 peticiones/min</a:t>
            </a:r>
            <a:r>
              <a:rPr sz="1600" b="0">
                <a:solidFill>
                  <a:srgbClr val="1D2420"/>
                </a:solidFill>
                <a:latin typeface="Calibri"/>
              </a:rPr>
              <a:t> por usuario (429)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</a:t>
            </a:r>
            <a:r>
              <a:rPr sz="1600" b="1">
                <a:solidFill>
                  <a:srgbClr val="1D2420"/>
                </a:solidFill>
                <a:latin typeface="Calibri"/>
              </a:rPr>
              <a:t>X-Correlation-ID</a:t>
            </a:r>
            <a:r>
              <a:rPr sz="1600" b="0">
                <a:solidFill>
                  <a:srgbClr val="1D2420"/>
                </a:solidFill>
                <a:latin typeface="Calibri"/>
              </a:rPr>
              <a:t> y bitácora en MongoDB</a:t>
            </a:r>
          </a:p>
        </p:txBody>
      </p:sp>
      <p:pic>
        <p:nvPicPr>
          <p:cNvPr id="12" name="Picture 11" descr="swagg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5486400" cy="3429000"/>
          </a:xfrm>
          <a:prstGeom prst="rect">
            <a:avLst/>
          </a:prstGeom>
          <a:ln w="12700">
            <a:solidFill>
              <a:srgbClr val="DEDCD4"/>
            </a:solidFill>
          </a:ln>
        </p:spPr>
      </p:pic>
      <p:sp>
        <p:nvSpPr>
          <p:cNvPr id="13" name="TextBox 12"/>
          <p:cNvSpPr txBox="1"/>
          <p:nvPr/>
        </p:nvSpPr>
        <p:spPr>
          <a:xfrm>
            <a:off x="6172200" y="5166360"/>
            <a:ext cx="548640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Swagger de cada servicio en </a:t>
            </a:r>
            <a:r>
              <a:rPr sz="1300" b="1">
                <a:solidFill>
                  <a:srgbClr val="5F6B64"/>
                </a:solidFill>
                <a:latin typeface="Calibri"/>
              </a:rPr>
              <a:t>localhost:8101/docs … 8108/docs</a:t>
            </a:r>
            <a:r>
              <a:rPr sz="1300" b="0">
                <a:solidFill>
                  <a:srgbClr val="5F6B64"/>
                </a:solidFill>
                <a:latin typeface="Calibri"/>
              </a:rPr>
              <a:t> · OpenAPI 3.0.3 generado del código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Un solo inicio de sesión para 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05156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F6B64"/>
                </a:solidFill>
                <a:latin typeface="Calibri"/>
              </a:rPr>
              <a:t>JWT + sesión en Redis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3611880" cy="17373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645920"/>
            <a:ext cx="64008" cy="173736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1755648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4A"/>
                </a:solidFill>
                <a:latin typeface="Calibri"/>
              </a:rPr>
              <a:t>1. Firma y vigencia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194560"/>
            <a:ext cx="33375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El token no fue alterado y no ha vencido (8 h).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645920"/>
            <a:ext cx="3611880" cy="17373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64008" cy="173736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755648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4A"/>
                </a:solidFill>
                <a:latin typeface="Calibri"/>
              </a:rPr>
              <a:t>2. No revocado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194560"/>
            <a:ext cx="33375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Su id (jti) no está en la lista de revocados de Redis.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92440" y="1645920"/>
            <a:ext cx="3611880" cy="173736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92440" y="1645920"/>
            <a:ext cx="64008" cy="173736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75320" y="1755648"/>
            <a:ext cx="33375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F6F4A"/>
                </a:solidFill>
                <a:latin typeface="Calibri"/>
              </a:rPr>
              <a:t>3. Sesión viva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20" y="2194560"/>
            <a:ext cx="333756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Su sesión sigue en Redis: si se borra, el token deja de servir.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657600"/>
            <a:ext cx="11155680" cy="2560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• </a:t>
            </a:r>
            <a:r>
              <a:rPr sz="1800" b="1">
                <a:solidFill>
                  <a:srgbClr val="1D2420"/>
                </a:solidFill>
                <a:latin typeface="Calibri"/>
              </a:rPr>
              <a:t>Logout</a:t>
            </a:r>
            <a:r>
              <a:rPr sz="1800" b="0">
                <a:solidFill>
                  <a:srgbClr val="1D2420"/>
                </a:solidFill>
                <a:latin typeface="Calibri"/>
              </a:rPr>
              <a:t> en cualquier componente → el token falla en </a:t>
            </a:r>
            <a:r>
              <a:rPr sz="1800" b="1">
                <a:solidFill>
                  <a:srgbClr val="1D2420"/>
                </a:solidFill>
                <a:latin typeface="Calibri"/>
              </a:rPr>
              <a:t>los 8 servicios y en el web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• </a:t>
            </a:r>
            <a:r>
              <a:rPr sz="1800" b="1">
                <a:solidFill>
                  <a:srgbClr val="1D2420"/>
                </a:solidFill>
                <a:latin typeface="Calibri"/>
              </a:rPr>
              <a:t>Refresh token de un solo uso</a:t>
            </a:r>
            <a:r>
              <a:rPr sz="1800" b="0">
                <a:solidFill>
                  <a:srgbClr val="1D2420"/>
                </a:solidFill>
                <a:latin typeface="Calibri"/>
              </a:rPr>
              <a:t>; el logout también lo anula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• 5 contraseñas mal → </a:t>
            </a:r>
            <a:r>
              <a:rPr sz="1800" b="1">
                <a:solidFill>
                  <a:srgbClr val="1D2420"/>
                </a:solidFill>
                <a:latin typeface="Calibri"/>
              </a:rPr>
              <a:t>cuenta bloqueada 15 min</a:t>
            </a:r>
            <a:r>
              <a:rPr sz="1800" b="0">
                <a:solidFill>
                  <a:srgbClr val="1D2420"/>
                </a:solidFill>
                <a:latin typeface="Calibri"/>
              </a:rPr>
              <a:t> (423) · 10 logins/min por IP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• Llamadas entre servicios con </a:t>
            </a:r>
            <a:r>
              <a:rPr sz="1800" b="1">
                <a:solidFill>
                  <a:srgbClr val="1D2420"/>
                </a:solidFill>
                <a:latin typeface="Calibri"/>
              </a:rPr>
              <a:t>token de servicio</a:t>
            </a:r>
            <a:r>
              <a:rPr sz="1800" b="0">
                <a:solidFill>
                  <a:srgbClr val="1D2420"/>
                </a:solidFill>
                <a:latin typeface="Calibri"/>
              </a:rPr>
              <a:t> de 5 min y un solo permiso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Cómo se levanta: Docker Compose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25609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Humberto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280160"/>
          <a:ext cx="5852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Contenedor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Puerto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abastored-web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5000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ms-seguridad … ms-notificaciones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8101–8108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PostgreSQL + PostGIS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5432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MongoDB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27017</a:t>
                      </a:r>
                    </a:p>
                  </a:txBody>
                  <a:tcPr marT="36576" marB="36576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Redis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500" b="0">
                          <a:solidFill>
                            <a:srgbClr val="1D2420"/>
                          </a:solidFill>
                          <a:latin typeface="Calibri"/>
                        </a:rPr>
                        <a:t>6379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0" y="1280160"/>
            <a:ext cx="5120640" cy="2377440"/>
          </a:xfrm>
          <a:prstGeom prst="rect">
            <a:avLst/>
          </a:prstGeom>
          <a:solidFill>
            <a:srgbClr val="1D2420"/>
          </a:solidFill>
        </p:spPr>
        <p:txBody>
          <a:bodyPr wrap="square" lIns="45720" rIns="4572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E6F0EA"/>
                </a:solidFill>
                <a:latin typeface="Consolas"/>
              </a:rPr>
              <a:t>cp .env.example .env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6F0EA"/>
                </a:solidFill>
                <a:latin typeface="Consolas"/>
              </a:rPr>
              <a:t>docker compose up -d --build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6F0EA"/>
                </a:solidFill>
                <a:latin typeface="Consolas"/>
              </a:rPr>
              <a:t>docker compose ps</a:t>
            </a:r>
          </a:p>
          <a:p>
            <a:pPr algn="l">
              <a:spcAft>
                <a:spcPts val="200"/>
              </a:spcAft>
            </a:pPr>
            <a:endParaRPr sz="1600" b="0">
              <a:solidFill>
                <a:srgbClr val="E6F0EA"/>
              </a:solidFill>
              <a:latin typeface="Consolas"/>
            </a:endParaRP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6F0EA"/>
                </a:solidFill>
                <a:latin typeface="Consolas"/>
              </a:rPr>
              <a:t>docker compose 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343400"/>
            <a:ext cx="1115568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1D2420"/>
                </a:solidFill>
                <a:latin typeface="Calibri"/>
              </a:rPr>
              <a:t>• Una red </a:t>
            </a:r>
            <a:r>
              <a:rPr sz="1700" b="1">
                <a:solidFill>
                  <a:srgbClr val="1D2420"/>
                </a:solidFill>
                <a:latin typeface="Calibri"/>
              </a:rPr>
              <a:t>abastored-network</a:t>
            </a:r>
            <a:r>
              <a:rPr sz="1700" b="0">
                <a:solidFill>
                  <a:srgbClr val="1D2420"/>
                </a:solidFill>
                <a:latin typeface="Calibri"/>
              </a:rPr>
              <a:t>; los servicios se llaman por nombre (http://ms-pedidos:8000)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2420"/>
                </a:solidFill>
                <a:latin typeface="Calibri"/>
              </a:rPr>
              <a:t>• </a:t>
            </a:r>
            <a:r>
              <a:rPr sz="1700" b="1">
                <a:solidFill>
                  <a:srgbClr val="1D2420"/>
                </a:solidFill>
                <a:latin typeface="Calibri"/>
              </a:rPr>
              <a:t>Volúmenes</a:t>
            </a:r>
            <a:r>
              <a:rPr sz="1700" b="0">
                <a:solidFill>
                  <a:srgbClr val="1D2420"/>
                </a:solidFill>
                <a:latin typeface="Calibri"/>
              </a:rPr>
              <a:t> para los datos de las tres bases · </a:t>
            </a:r>
            <a:r>
              <a:rPr sz="1700" b="1">
                <a:solidFill>
                  <a:srgbClr val="1D2420"/>
                </a:solidFill>
                <a:latin typeface="Calibri"/>
              </a:rPr>
              <a:t>healthcheck</a:t>
            </a:r>
            <a:r>
              <a:rPr sz="1700" b="0">
                <a:solidFill>
                  <a:srgbClr val="1D2420"/>
                </a:solidFill>
                <a:latin typeface="Calibri"/>
              </a:rPr>
              <a:t> en cada contenedor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1D2420"/>
                </a:solidFill>
                <a:latin typeface="Calibri"/>
              </a:rPr>
              <a:t>• Variables documentadas en </a:t>
            </a:r>
            <a:r>
              <a:rPr sz="1700" b="1">
                <a:solidFill>
                  <a:srgbClr val="1D2420"/>
                </a:solidFill>
                <a:latin typeface="Calibri"/>
              </a:rPr>
              <a:t>.env.example</a:t>
            </a:r>
            <a:r>
              <a:rPr sz="1700" b="0">
                <a:solidFill>
                  <a:srgbClr val="1D2420"/>
                </a:solidFill>
                <a:latin typeface="Calibri"/>
              </a:rPr>
              <a:t> (secretos, conexiones, URL de servicios, límites)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Comercios, catálogo y el web ampliado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José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8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86400" cy="23317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64008" cy="233172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B3F8C"/>
                </a:solidFill>
                <a:latin typeface="Calibri"/>
              </a:rPr>
              <a:t>ms-comercios y ms-catalogo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21208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Alta, validación municipal y baja lógica de comercios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Fotos y evidencias en GridFS</a:t>
            </a:r>
            <a:r>
              <a:rPr sz="1500" b="0">
                <a:solidFill>
                  <a:srgbClr val="1D2420"/>
                </a:solidFill>
                <a:latin typeface="Calibri"/>
              </a:rPr>
              <a:t> (dueño y coordinación)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Catálogo, proveedores y «¿quién me vende en mi zona?»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486400" cy="23317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64008" cy="233172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B3F8C"/>
                </a:solidFill>
                <a:latin typeface="Calibri"/>
              </a:rPr>
              <a:t>Nuevo perfil: Operador de Proveedor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El dueño lo da de alta en </a:t>
            </a:r>
            <a:r>
              <a:rPr sz="1500" b="1">
                <a:solidFill>
                  <a:srgbClr val="1D2420"/>
                </a:solidFill>
                <a:latin typeface="Calibri"/>
              </a:rPr>
              <a:t>Mi empresa → Equipo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Atiende pedidos; </a:t>
            </a:r>
            <a:r>
              <a:rPr sz="1500" b="1">
                <a:solidFill>
                  <a:srgbClr val="1D2420"/>
                </a:solidFill>
                <a:latin typeface="Calibri"/>
              </a:rPr>
              <a:t>no cambia precios ni catálogo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Darlo de baja </a:t>
            </a:r>
            <a:r>
              <a:rPr sz="1500" b="1">
                <a:solidFill>
                  <a:srgbClr val="1D2420"/>
                </a:solidFill>
                <a:latin typeface="Calibri"/>
              </a:rPr>
              <a:t>le cierra la sesión</a:t>
            </a:r>
            <a:r>
              <a:rPr sz="1500" b="0">
                <a:solidFill>
                  <a:srgbClr val="1D2420"/>
                </a:solidFill>
                <a:latin typeface="Calibri"/>
              </a:rPr>
              <a:t> al instante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40480"/>
            <a:ext cx="11155680" cy="23317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840480"/>
            <a:ext cx="64008" cy="2331720"/>
          </a:xfrm>
          <a:prstGeom prst="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3950208"/>
            <a:ext cx="108813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5B3F8C"/>
                </a:solidFill>
                <a:latin typeface="Calibri"/>
              </a:rPr>
              <a:t>Nuevo en el web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10881360" cy="1691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Campana de notificaciones</a:t>
            </a:r>
            <a:r>
              <a:rPr sz="1500" b="0">
                <a:solidFill>
                  <a:srgbClr val="1D2420"/>
                </a:solidFill>
                <a:latin typeface="Calibri"/>
              </a:rPr>
              <a:t> · </a:t>
            </a:r>
            <a:r>
              <a:rPr sz="1500" b="1">
                <a:solidFill>
                  <a:srgbClr val="1D2420"/>
                </a:solidFill>
                <a:latin typeface="Calibri"/>
              </a:rPr>
              <a:t>Importar inventario por CSV</a:t>
            </a:r>
            <a:r>
              <a:rPr sz="1500" b="0">
                <a:solidFill>
                  <a:srgbClr val="1D2420"/>
                </a:solidFill>
                <a:latin typeface="Calibri"/>
              </a:rPr>
              <a:t> · </a:t>
            </a:r>
            <a:r>
              <a:rPr sz="1500" b="1">
                <a:solidFill>
                  <a:srgbClr val="1D2420"/>
                </a:solidFill>
                <a:latin typeface="Calibri"/>
              </a:rPr>
              <a:t>Revisión de precios atípicos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Administración: </a:t>
            </a:r>
            <a:r>
              <a:rPr sz="1500" b="1">
                <a:solidFill>
                  <a:srgbClr val="1D2420"/>
                </a:solidFill>
                <a:latin typeface="Calibri"/>
              </a:rPr>
              <a:t>sesiones abiertas</a:t>
            </a:r>
            <a:r>
              <a:rPr sz="1500" b="0">
                <a:solidFill>
                  <a:srgbClr val="1D2420"/>
                </a:solidFill>
                <a:latin typeface="Calibri"/>
              </a:rPr>
              <a:t> y </a:t>
            </a:r>
            <a:r>
              <a:rPr sz="1500" b="1">
                <a:solidFill>
                  <a:srgbClr val="1D2420"/>
                </a:solidFill>
                <a:latin typeface="Calibri"/>
              </a:rPr>
              <a:t>estado de los servicios</a:t>
            </a:r>
            <a:r>
              <a:rPr sz="1500" b="0">
                <a:solidFill>
                  <a:srgbClr val="1D2420"/>
                </a:solidFill>
                <a:latin typeface="Calibri"/>
              </a:rPr>
              <a:t> con gráficas Highcharts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Reportes: </a:t>
            </a:r>
            <a:r>
              <a:rPr sz="1500" b="1">
                <a:solidFill>
                  <a:srgbClr val="1D2420"/>
                </a:solidFill>
                <a:latin typeface="Calibri"/>
              </a:rPr>
              <a:t>desempeño de proveedores</a:t>
            </a:r>
            <a:r>
              <a:rPr sz="1500" b="0">
                <a:solidFill>
                  <a:srgbClr val="1D2420"/>
                </a:solidFill>
                <a:latin typeface="Calibri"/>
              </a:rPr>
              <a:t> y </a:t>
            </a:r>
            <a:r>
              <a:rPr sz="1500" b="1">
                <a:solidFill>
                  <a:srgbClr val="1D2420"/>
                </a:solidFill>
                <a:latin typeface="Calibri"/>
              </a:rPr>
              <a:t>evolución del índice de acceso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El web sigue funcionando si un servicio cae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5B3F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José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5669280" cy="4754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1D2420"/>
                </a:solidFill>
                <a:latin typeface="Calibri"/>
              </a:rPr>
              <a:t>Servicio arriba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Pantalla → ms-analisis → «Fuente: ms-analisis»</a:t>
            </a:r>
          </a:p>
          <a:p>
            <a:pPr algn="l">
              <a:spcAft>
                <a:spcPts val="600"/>
              </a:spcAft>
            </a:pPr>
            <a:endParaRPr sz="18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D2420"/>
                </a:solidFill>
                <a:latin typeface="Calibri"/>
              </a:rPr>
              <a:t>Servicio caído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Pantalla → cálculo local → «Fuente: cálculo local»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Avisos → se guardan directo en MongoDB → aparecen al volver</a:t>
            </a:r>
          </a:p>
          <a:p>
            <a:pPr algn="l">
              <a:spcAft>
                <a:spcPts val="600"/>
              </a:spcAft>
            </a:pPr>
            <a:endParaRPr sz="18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800" b="1">
                <a:solidFill>
                  <a:srgbClr val="1D2420"/>
                </a:solidFill>
                <a:latin typeface="Calibri"/>
              </a:rPr>
              <a:t>Cortacircuitos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1D2420"/>
                </a:solidFill>
                <a:latin typeface="Calibri"/>
              </a:rPr>
              <a:t>Tras una falla, 30 s sin volver a intentar (clave ms:caido en Redis)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2203704"/>
            <a:ext cx="228600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2295144"/>
            <a:ext cx="2286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4.1 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3044952"/>
            <a:ext cx="2286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sin cortacircuitos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326880" y="2203704"/>
            <a:ext cx="2286000" cy="1325880"/>
          </a:xfrm>
          <a:prstGeom prst="rect">
            <a:avLst/>
          </a:prstGeom>
          <a:solidFill>
            <a:srgbClr val="E6F0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326880" y="2295144"/>
            <a:ext cx="2286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F6F4A"/>
                </a:solidFill>
                <a:latin typeface="Calibri"/>
              </a:rPr>
              <a:t>&lt; 0.1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3044952"/>
            <a:ext cx="22860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5F6B64"/>
                </a:solidFill>
                <a:latin typeface="Calibri"/>
              </a:rPr>
              <a:t>con cortacircuitos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803904"/>
            <a:ext cx="484632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F6B64"/>
                </a:solidFill>
                <a:latin typeface="Calibri"/>
              </a:rPr>
              <a:t>Tiempo de carga de «Cobertura» con ms-analisis detenido, medido en las pruebas.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Contratos JSON y XML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Mauro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23444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6F4A"/>
                </a:solidFill>
                <a:latin typeface="Calibri"/>
              </a:rPr>
              <a:t>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486400" cy="2286000"/>
          </a:xfrm>
          <a:prstGeom prst="rect">
            <a:avLst/>
          </a:prstGeom>
          <a:solidFill>
            <a:srgbClr val="F7F6F2"/>
          </a:solidFill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{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  "comercio_id": "4489609b-…",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  "proveedor_id": "69ad862f-…",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  "partidas": [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    {"producto_id": 9, "cantidad": 20}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  ]</a:t>
            </a:r>
          </a:p>
          <a:p>
            <a:pPr algn="l">
              <a:spcAft>
                <a:spcPts val="0"/>
              </a:spcAft>
            </a:pPr>
            <a:r>
              <a:rPr sz="1300" b="0">
                <a:solidFill>
                  <a:srgbClr val="1D2420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34440"/>
            <a:ext cx="5486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F6F4A"/>
                </a:solidFill>
                <a:latin typeface="Calibri"/>
              </a:rPr>
              <a:t>XML (validado con pedidos.xsd)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600200"/>
            <a:ext cx="5486400" cy="2286000"/>
          </a:xfrm>
          <a:prstGeom prst="rect">
            <a:avLst/>
          </a:prstGeom>
          <a:solidFill>
            <a:srgbClr val="F7F6F2"/>
          </a:solidFill>
        </p:spPr>
        <p:txBody>
          <a:bodyPr wrap="square" lIns="45720" rIns="4572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&lt;pedido_entrada xmlns="https://abastored.mx/esquemas/v1"&gt;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&lt;comercio_id&gt;4489609b-…&lt;/comercio_id&gt;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&lt;proveedor_id&gt;69ad862f-…&lt;/proveedor_id&gt;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&lt;partidas&gt;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  &lt;partida&gt;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    &lt;producto_id&gt;9&lt;/producto_id&gt;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    &lt;cantidad&gt;20&lt;/cantidad&gt;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  &lt;/partida&gt;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  &lt;/partidas&gt;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D2420"/>
                </a:solidFill>
                <a:latin typeface="Consolas"/>
              </a:rPr>
              <a:t>&lt;/pedido_entrada&gt;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02920" y="4160520"/>
          <a:ext cx="11155676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97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97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4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975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232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4184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6044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Código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400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401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403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404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409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422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429</a:t>
                      </a:r>
                    </a:p>
                  </a:txBody>
                  <a:tcPr marT="36576" marB="36576">
                    <a:solidFill>
                      <a:srgbClr val="1F6F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Significa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Mal formado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Sin sesión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Sin permiso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No existe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Regla de negocio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Datos inválidos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</a:pPr>
                      <a:r>
                        <a:rPr sz="1400" b="0">
                          <a:solidFill>
                            <a:srgbClr val="1D2420"/>
                          </a:solidFill>
                          <a:latin typeface="Calibri"/>
                        </a:rPr>
                        <a:t>Demasiadas</a:t>
                      </a:r>
                    </a:p>
                  </a:txBody>
                  <a:tcPr marT="36576" marB="36576">
                    <a:solidFill>
                      <a:srgbClr val="F7F6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02920" y="5257800"/>
            <a:ext cx="111556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Los </a:t>
            </a:r>
            <a:r>
              <a:rPr sz="1600" b="1">
                <a:solidFill>
                  <a:srgbClr val="1D2420"/>
                </a:solidFill>
                <a:latin typeface="Calibri"/>
              </a:rPr>
              <a:t>XSD se generan de los mismos modelos</a:t>
            </a:r>
            <a:r>
              <a:rPr sz="1600" b="0">
                <a:solidFill>
                  <a:srgbClr val="1D2420"/>
                </a:solidFill>
                <a:latin typeface="Calibri"/>
              </a:rPr>
              <a:t> que validan el JSON: una prueba verifica que nunca se desfasen.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MongoDB y Redis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Mauro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86400" cy="48463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64008" cy="4846320"/>
          </a:xfrm>
          <a:prstGeom prst="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6400"/>
                </a:solidFill>
                <a:latin typeface="Calibri"/>
              </a:rPr>
              <a:t>MongoDB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2120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notificaciones</a:t>
            </a:r>
            <a:r>
              <a:rPr sz="1500" b="0">
                <a:solidFill>
                  <a:srgbClr val="1D2420"/>
                </a:solidFill>
                <a:latin typeface="Calibri"/>
              </a:rPr>
              <a:t> (caducan a los 90 días)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eventos_pedido</a:t>
            </a:r>
            <a:r>
              <a:rPr sz="1500" b="0">
                <a:solidFill>
                  <a:srgbClr val="1D2420"/>
                </a:solidFill>
                <a:latin typeface="Calibri"/>
              </a:rPr>
              <a:t> · </a:t>
            </a:r>
            <a:r>
              <a:rPr sz="1500" b="1">
                <a:solidFill>
                  <a:srgbClr val="1D2420"/>
                </a:solidFill>
                <a:latin typeface="Calibri"/>
              </a:rPr>
              <a:t>snapshots_precios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ejecuciones_analisis</a:t>
            </a:r>
            <a:r>
              <a:rPr sz="1500" b="0">
                <a:solidFill>
                  <a:srgbClr val="1D2420"/>
                </a:solidFill>
                <a:latin typeface="Calibri"/>
              </a:rPr>
              <a:t> · </a:t>
            </a:r>
            <a:r>
              <a:rPr sz="1500" b="1">
                <a:solidFill>
                  <a:srgbClr val="1D2420"/>
                </a:solidFill>
                <a:latin typeface="Calibri"/>
              </a:rPr>
              <a:t>importaciones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bitacora_peticiones</a:t>
            </a:r>
            <a:r>
              <a:rPr sz="1500" b="0">
                <a:solidFill>
                  <a:srgbClr val="1D2420"/>
                </a:solidFill>
                <a:latin typeface="Calibri"/>
              </a:rPr>
              <a:t> (30 días)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GridFS</a:t>
            </a:r>
            <a:r>
              <a:rPr sz="1500" b="0">
                <a:solidFill>
                  <a:srgbClr val="1D2420"/>
                </a:solidFill>
                <a:latin typeface="Calibri"/>
              </a:rPr>
              <a:t>: fotos, evidencias y CSV</a:t>
            </a:r>
          </a:p>
          <a:p>
            <a:pPr algn="l">
              <a:spcAft>
                <a:spcPts val="400"/>
              </a:spcAft>
            </a:pPr>
            <a:endParaRPr sz="15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Agregaciones: desempeño de proveedores, productos más pedidos, evolución del índice de acceso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486400" cy="48463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64008" cy="4846320"/>
          </a:xfrm>
          <a:prstGeom prst="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6400"/>
                </a:solidFill>
                <a:latin typeface="Calibri"/>
              </a:rPr>
              <a:t>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Sesiones</a:t>
            </a:r>
            <a:r>
              <a:rPr sz="1500" b="0">
                <a:solidFill>
                  <a:srgbClr val="1D2420"/>
                </a:solidFill>
                <a:latin typeface="Calibri"/>
              </a:rPr>
              <a:t> y </a:t>
            </a:r>
            <a:r>
              <a:rPr sz="1500" b="1">
                <a:solidFill>
                  <a:srgbClr val="1D2420"/>
                </a:solidFill>
                <a:latin typeface="Calibri"/>
              </a:rPr>
              <a:t>tokens revocados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Caché con versión</a:t>
            </a:r>
            <a:r>
              <a:rPr sz="1500" b="0">
                <a:solidFill>
                  <a:srgbClr val="1D2420"/>
                </a:solidFill>
                <a:latin typeface="Calibri"/>
              </a:rPr>
              <a:t>: un cambio invalida todo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Contadores</a:t>
            </a:r>
            <a:r>
              <a:rPr sz="1500" b="0">
                <a:solidFill>
                  <a:srgbClr val="1D2420"/>
                </a:solidFill>
                <a:latin typeface="Calibri"/>
              </a:rPr>
              <a:t> y </a:t>
            </a:r>
            <a:r>
              <a:rPr sz="1500" b="1">
                <a:solidFill>
                  <a:srgbClr val="1D2420"/>
                </a:solidFill>
                <a:latin typeface="Calibri"/>
              </a:rPr>
              <a:t>límite por minuto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Bloqueos</a:t>
            </a:r>
            <a:r>
              <a:rPr sz="1500" b="0">
                <a:solidFill>
                  <a:srgbClr val="1D2420"/>
                </a:solidFill>
                <a:latin typeface="Calibri"/>
              </a:rPr>
              <a:t> (dos personas no importan a la vez)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• </a:t>
            </a:r>
            <a:r>
              <a:rPr sz="1500" b="1">
                <a:solidFill>
                  <a:srgbClr val="1D2420"/>
                </a:solidFill>
                <a:latin typeface="Calibri"/>
              </a:rPr>
              <a:t>Cortacircuitos</a:t>
            </a:r>
            <a:r>
              <a:rPr sz="1500" b="0">
                <a:solidFill>
                  <a:srgbClr val="1D2420"/>
                </a:solidFill>
                <a:latin typeface="Calibri"/>
              </a:rPr>
              <a:t> del web</a:t>
            </a:r>
          </a:p>
          <a:p>
            <a:pPr algn="l">
              <a:spcAft>
                <a:spcPts val="400"/>
              </a:spcAft>
            </a:pPr>
            <a:endParaRPr sz="15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Todo con tiempo de vida (TTL) explícito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Procesos nuevos: inventario y precios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280160"/>
            <a:ext cx="5486400" cy="48463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280160"/>
            <a:ext cx="64008" cy="4846320"/>
          </a:xfrm>
          <a:prstGeom prst="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6400"/>
                </a:solidFill>
                <a:latin typeface="Calibri"/>
              </a:rPr>
              <a:t>Importar inventario por CSV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828800"/>
            <a:ext cx="52120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1. Descargar la plantilla con el inventario actual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2. Editar en Excel y subir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3. Cada fila se aplica por separado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4. Resultado: agregados, actualizados y </a:t>
            </a:r>
            <a:r>
              <a:rPr sz="1500" b="1">
                <a:solidFill>
                  <a:srgbClr val="1D2420"/>
                </a:solidFill>
                <a:latin typeface="Calibri"/>
              </a:rPr>
              <a:t>errores por fila</a:t>
            </a:r>
          </a:p>
          <a:p>
            <a:pPr algn="l">
              <a:spcAft>
                <a:spcPts val="400"/>
              </a:spcAft>
            </a:pPr>
            <a:endParaRPr sz="1500" b="1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Archivo en GridFS · resultado en MongoDB · </a:t>
            </a:r>
            <a:r>
              <a:rPr sz="1500" b="1">
                <a:solidFill>
                  <a:srgbClr val="1D2420"/>
                </a:solidFill>
                <a:latin typeface="Calibri"/>
              </a:rPr>
              <a:t>bloqueo en Redis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280160"/>
            <a:ext cx="5486400" cy="4846320"/>
          </a:xfrm>
          <a:prstGeom prst="rect">
            <a:avLst/>
          </a:prstGeom>
          <a:solidFill>
            <a:srgbClr val="F7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172200" y="1280160"/>
            <a:ext cx="64008" cy="4846320"/>
          </a:xfrm>
          <a:prstGeom prst="rect">
            <a:avLst/>
          </a:prstGeom>
          <a:solidFill>
            <a:srgbClr val="9A6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55080" y="1389888"/>
            <a:ext cx="52120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9A6400"/>
                </a:solidFill>
                <a:latin typeface="Calibri"/>
              </a:rPr>
              <a:t>Revisión de precios atípicos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1828800"/>
            <a:ext cx="5212080" cy="4206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1. Precio fuera del </a:t>
            </a:r>
            <a:r>
              <a:rPr sz="1500" b="1">
                <a:solidFill>
                  <a:srgbClr val="1D2420"/>
                </a:solidFill>
                <a:latin typeface="Calibri"/>
              </a:rPr>
              <a:t>10–150 %</a:t>
            </a:r>
            <a:r>
              <a:rPr sz="1500" b="0">
                <a:solidFill>
                  <a:srgbClr val="1D2420"/>
                </a:solidFill>
                <a:latin typeface="Calibri"/>
              </a:rPr>
              <a:t> del promedio de la zona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2. Queda </a:t>
            </a:r>
            <a:r>
              <a:rPr sz="1500" b="1">
                <a:solidFill>
                  <a:srgbClr val="1D2420"/>
                </a:solidFill>
                <a:latin typeface="Calibri"/>
              </a:rPr>
              <a:t>pendiente</a:t>
            </a:r>
            <a:r>
              <a:rPr sz="1500" b="0">
                <a:solidFill>
                  <a:srgbClr val="1D2420"/>
                </a:solidFill>
                <a:latin typeface="Calibri"/>
              </a:rPr>
              <a:t> y no entra a la comparación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3. La coordinación </a:t>
            </a:r>
            <a:r>
              <a:rPr sz="1500" b="1">
                <a:solidFill>
                  <a:srgbClr val="1D2420"/>
                </a:solidFill>
                <a:latin typeface="Calibri"/>
              </a:rPr>
              <a:t>valida o descarta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4. El comerciante </a:t>
            </a:r>
            <a:r>
              <a:rPr sz="1500" b="1">
                <a:solidFill>
                  <a:srgbClr val="1D2420"/>
                </a:solidFill>
                <a:latin typeface="Calibri"/>
              </a:rPr>
              <a:t>recibe aviso</a:t>
            </a:r>
            <a:r>
              <a:rPr sz="1500" b="0">
                <a:solidFill>
                  <a:srgbClr val="1D2420"/>
                </a:solidFill>
                <a:latin typeface="Calibri"/>
              </a:rPr>
              <a:t> del resultado</a:t>
            </a:r>
          </a:p>
          <a:p>
            <a:pPr algn="l">
              <a:spcAft>
                <a:spcPts val="400"/>
              </a:spcAft>
            </a:pPr>
            <a:endParaRPr sz="15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1D2420"/>
                </a:solidFill>
                <a:latin typeface="Calibri"/>
              </a:rPr>
              <a:t>Control de calidad humano sobre los datos</a:t>
            </a:r>
          </a:p>
        </p:txBody>
      </p:sp>
      <p:sp>
        <p:nvSpPr>
          <p:cNvPr id="16" name="Rounded Rectangle 3">
            <a:extLst>
              <a:ext uri="{FF2B5EF4-FFF2-40B4-BE49-F238E27FC236}">
                <a16:creationId xmlns:a16="http://schemas.microsoft.com/office/drawing/2014/main" id="{4C1AD94B-756A-7D09-1602-51B3D6A60CEA}"/>
              </a:ext>
            </a:extLst>
          </p:cNvPr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B3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David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320040"/>
            <a:ext cx="93268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D2420"/>
                </a:solidFill>
                <a:latin typeface="Calibri"/>
              </a:rPr>
              <a:t>Pedidos y análisis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149840" y="411480"/>
            <a:ext cx="1691640" cy="384048"/>
          </a:xfrm>
          <a:prstGeom prst="roundRect">
            <a:avLst/>
          </a:prstGeom>
          <a:solidFill>
            <a:srgbClr val="B33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David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00800"/>
            <a:ext cx="82296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AbastoRed · Proyecto 14 · Equipo 01 · Avance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73152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F6B64"/>
                </a:solidFill>
                <a:latin typeface="Calibri"/>
              </a:rPr>
              <a:t>13</a:t>
            </a:r>
          </a:p>
        </p:txBody>
      </p:sp>
      <p:pic>
        <p:nvPicPr>
          <p:cNvPr id="7" name="Picture 6" descr="estados_pedid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34440"/>
            <a:ext cx="6583680" cy="2025748"/>
          </a:xfrm>
          <a:prstGeom prst="rect">
            <a:avLst/>
          </a:prstGeom>
          <a:ln w="12700">
            <a:solidFill>
              <a:srgbClr val="DEDCD4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7315200" y="1280160"/>
            <a:ext cx="4389120" cy="4846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D2420"/>
                </a:solidFill>
                <a:latin typeface="Calibri"/>
              </a:rPr>
              <a:t>ms-pedidos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Acción fuera de orden → </a:t>
            </a:r>
            <a:r>
              <a:rPr sz="1600" b="1">
                <a:solidFill>
                  <a:srgbClr val="1D2420"/>
                </a:solidFill>
                <a:latin typeface="Calibri"/>
              </a:rPr>
              <a:t>409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Historial en PostgreSQL + </a:t>
            </a:r>
            <a:r>
              <a:rPr sz="1600" b="1">
                <a:solidFill>
                  <a:srgbClr val="1D2420"/>
                </a:solidFill>
                <a:latin typeface="Calibri"/>
              </a:rPr>
              <a:t>eventos en MongoDB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</a:t>
            </a:r>
            <a:r>
              <a:rPr sz="1600" b="1">
                <a:solidFill>
                  <a:srgbClr val="1D2420"/>
                </a:solidFill>
                <a:latin typeface="Calibri"/>
              </a:rPr>
              <a:t>Bloqueo en Redis</a:t>
            </a:r>
            <a:r>
              <a:rPr sz="1600" b="0">
                <a:solidFill>
                  <a:srgbClr val="1D2420"/>
                </a:solidFill>
                <a:latin typeface="Calibri"/>
              </a:rPr>
              <a:t> por pedido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Desempeño de proveedores (agregación)</a:t>
            </a:r>
          </a:p>
          <a:p>
            <a:pPr algn="l">
              <a:spcAft>
                <a:spcPts val="600"/>
              </a:spcAft>
            </a:pPr>
            <a:endParaRPr sz="1600" b="0">
              <a:solidFill>
                <a:srgbClr val="1D2420"/>
              </a:solidFill>
              <a:latin typeface="Calibri"/>
            </a:endParaRPr>
          </a:p>
          <a:p>
            <a:pPr algn="l">
              <a:spcAft>
                <a:spcPts val="600"/>
              </a:spcAft>
            </a:pPr>
            <a:r>
              <a:rPr sz="1600" b="1">
                <a:solidFill>
                  <a:srgbClr val="1D2420"/>
                </a:solidFill>
                <a:latin typeface="Calibri"/>
              </a:rPr>
              <a:t>ms-analisis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Cobertura, brechas, recomendaciones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1D2420"/>
                </a:solidFill>
                <a:latin typeface="Calibri"/>
              </a:rPr>
              <a:t>• </a:t>
            </a:r>
            <a:r>
              <a:rPr sz="1600" b="1">
                <a:solidFill>
                  <a:srgbClr val="1D2420"/>
                </a:solidFill>
                <a:latin typeface="Calibri"/>
              </a:rPr>
              <a:t>Caché en Redis</a:t>
            </a:r>
            <a:r>
              <a:rPr sz="1600" b="0">
                <a:solidFill>
                  <a:srgbClr val="1D2420"/>
                </a:solidFill>
                <a:latin typeface="Calibri"/>
              </a:rPr>
              <a:t> y cortes en MongoDB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6F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5156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Calibri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156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0">
                <a:solidFill>
                  <a:srgbClr val="FFFFFF"/>
                </a:solidFill>
                <a:latin typeface="Calibri"/>
              </a:rPr>
              <a:t>¿Preguntas?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931920"/>
            <a:ext cx="105156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CFE3D8"/>
                </a:solidFill>
                <a:latin typeface="Calibri"/>
              </a:rPr>
              <a:t>Siguiente avance:</a:t>
            </a:r>
            <a:r>
              <a:rPr sz="1800" b="0">
                <a:solidFill>
                  <a:srgbClr val="CFE3D8"/>
                </a:solidFill>
                <a:latin typeface="Calibri"/>
              </a:rPr>
              <a:t> app móvil (Kotlin, JSON) y de escritorio (PySide6, XML) sobre estos mismos servicios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CFE3D8"/>
                </a:solidFill>
                <a:latin typeface="Calibri"/>
              </a:rPr>
              <a:t>Documento técnico, evidencias y colección de Postman en el repositorio (docs/)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1633</Words>
  <Application>Microsoft Office PowerPoint</Application>
  <PresentationFormat>Widescreen</PresentationFormat>
  <Paragraphs>293</Paragraphs>
  <Slides>17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Jose Moreno</dc:creator>
  <cp:keywords/>
  <dc:description>generated using python-pptx</dc:description>
  <cp:lastModifiedBy>Jose Moreno</cp:lastModifiedBy>
  <cp:revision>10</cp:revision>
  <dcterms:created xsi:type="dcterms:W3CDTF">2013-01-27T09:14:16Z</dcterms:created>
  <dcterms:modified xsi:type="dcterms:W3CDTF">2026-10-13T23:53:25Z</dcterms:modified>
  <cp:category/>
</cp:coreProperties>
</file>